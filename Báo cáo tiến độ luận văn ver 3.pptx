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872" autoAdjust="0"/>
  </p:normalViewPr>
  <p:slideViewPr>
    <p:cSldViewPr snapToGrid="0">
      <p:cViewPr varScale="1">
        <p:scale>
          <a:sx n="89" d="100"/>
          <a:sy n="89" d="100"/>
        </p:scale>
        <p:origin x="13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300" b="1">
                <a:solidFill>
                  <a:srgbClr val="111827"/>
                </a:solidFill>
                <a:latin typeface="Arial"/>
              </a:rPr>
              <a:t>mAP (%) theo cấu hình, trung bình 3 seed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1"/>
          <c:order val="1"/>
          <c:tx>
            <c:strRef>
              <c:f>Sheet1!$C$1</c:f>
              <c:strCache>
                <c:ptCount val="1"/>
                <c:pt idx="0">
                  <c:v>S1 · split ngẫu nhiên</c:v>
                </c:pt>
              </c:strCache>
            </c:strRef>
          </c:tx>
          <c:spPr>
            <a:solidFill>
              <a:srgbClr val="3D8DFF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11827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9"/>
                <c:pt idx="0">
                  <c:v>A8</c:v>
                </c:pt>
                <c:pt idx="1">
                  <c:v>A7</c:v>
                </c:pt>
                <c:pt idx="2">
                  <c:v>A6</c:v>
                </c:pt>
                <c:pt idx="3">
                  <c:v>A5</c:v>
                </c:pt>
                <c:pt idx="4">
                  <c:v>A4</c:v>
                </c:pt>
                <c:pt idx="5">
                  <c:v>A3</c:v>
                </c:pt>
                <c:pt idx="6">
                  <c:v>A2</c:v>
                </c:pt>
                <c:pt idx="7">
                  <c:v>A1</c:v>
                </c:pt>
                <c:pt idx="8">
                  <c:v>A0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9"/>
                <c:pt idx="0">
                  <c:v>89.6</c:v>
                </c:pt>
                <c:pt idx="1">
                  <c:v>83.71</c:v>
                </c:pt>
                <c:pt idx="2">
                  <c:v>79.86</c:v>
                </c:pt>
                <c:pt idx="3">
                  <c:v>78.099999999999994</c:v>
                </c:pt>
                <c:pt idx="4">
                  <c:v>76.27</c:v>
                </c:pt>
                <c:pt idx="5">
                  <c:v>77.040000000000006</c:v>
                </c:pt>
                <c:pt idx="6">
                  <c:v>75.31</c:v>
                </c:pt>
                <c:pt idx="7">
                  <c:v>75.62</c:v>
                </c:pt>
                <c:pt idx="8">
                  <c:v>72.45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2A0-4A99-BBA1-4EC4FF80C0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S2 · theo camera</c:v>
                      </c:pt>
                    </c:strCache>
                  </c:strRef>
                </c:tx>
                <c:spPr>
                  <a:solidFill>
                    <a:srgbClr val="D58B00"/>
                  </a:solidFill>
                </c:spPr>
                <c:invertIfNegative val="1"/>
                <c:dLbls>
                  <c:numFmt formatCode="0.0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0"/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Sheet1!$A$2:$A$11</c15:sqref>
                        </c15:formulaRef>
                      </c:ext>
                    </c:extLst>
                    <c:strCache>
                      <c:ptCount val="9"/>
                      <c:pt idx="0">
                        <c:v>A8</c:v>
                      </c:pt>
                      <c:pt idx="1">
                        <c:v>A7</c:v>
                      </c:pt>
                      <c:pt idx="2">
                        <c:v>A6</c:v>
                      </c:pt>
                      <c:pt idx="3">
                        <c:v>A5</c:v>
                      </c:pt>
                      <c:pt idx="4">
                        <c:v>A4</c:v>
                      </c:pt>
                      <c:pt idx="5">
                        <c:v>A3</c:v>
                      </c:pt>
                      <c:pt idx="6">
                        <c:v>A2</c:v>
                      </c:pt>
                      <c:pt idx="7">
                        <c:v>A1</c:v>
                      </c:pt>
                      <c:pt idx="8">
                        <c:v>A0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Sheet1!$B$2:$B$11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78.150000000000006</c:v>
                      </c:pt>
                      <c:pt idx="1">
                        <c:v>74.25</c:v>
                      </c:pt>
                      <c:pt idx="2">
                        <c:v>72.25</c:v>
                      </c:pt>
                      <c:pt idx="3">
                        <c:v>70.400000000000006</c:v>
                      </c:pt>
                      <c:pt idx="4">
                        <c:v>68.3</c:v>
                      </c:pt>
                      <c:pt idx="5">
                        <c:v>69.38</c:v>
                      </c:pt>
                      <c:pt idx="6">
                        <c:v>67.8</c:v>
                      </c:pt>
                      <c:pt idx="7">
                        <c:v>67.83</c:v>
                      </c:pt>
                      <c:pt idx="8">
                        <c:v>64.400000000000006</c:v>
                      </c:pt>
                    </c:numCache>
                  </c:numRef>
                </c:val>
                <c:extLst>
                  <c:ext xmlns:c14="http://schemas.microsoft.com/office/drawing/2007/8/2/chart" uri="{6F2FDCE9-48DA-4B69-8628-5D25D57E5C99}">
                    <c14:invertSolidFillFmt>
                      <c14:spPr xmlns:c14="http://schemas.microsoft.com/office/drawing/2007/8/2/chart">
                        <a:solidFill>
                          <a:srgbClr val="FFFFFF"/>
                        </a:solidFill>
                      </c14:spPr>
                    </c14:invertSolidFillFmt>
                  </c:ext>
                  <c:ext xmlns:c16="http://schemas.microsoft.com/office/drawing/2014/chart" uri="{C3380CC4-5D6E-409C-BE32-E72D297353CC}">
                    <c16:uniqueId val="{00000000-C2A0-4A99-BBA1-4EC4FF80C09E}"/>
                  </c:ext>
                </c:extLst>
              </c15:ser>
            </c15:filteredBarSeries>
          </c:ext>
        </c:extLst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8BCC4"/>
            </a:solidFill>
          </a:ln>
        </c:spPr>
        <c:txPr>
          <a:bodyPr/>
          <a:lstStyle/>
          <a:p>
            <a:pPr>
              <a:defRPr sz="1100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5"/>
          <c:min val="50"/>
        </c:scaling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Kính</a:t>
            </a:r>
            <a:r>
              <a:rPr dirty="0"/>
              <a:t> </a:t>
            </a:r>
            <a:r>
              <a:rPr dirty="0" err="1"/>
              <a:t>thưa</a:t>
            </a:r>
            <a:r>
              <a:rPr dirty="0"/>
              <a:t> </a:t>
            </a:r>
            <a:r>
              <a:rPr dirty="0" err="1"/>
              <a:t>thầy</a:t>
            </a:r>
            <a:r>
              <a:rPr dirty="0"/>
              <a:t> </a:t>
            </a:r>
            <a:r>
              <a:rPr dirty="0" err="1"/>
              <a:t>cô</a:t>
            </a:r>
            <a:r>
              <a:rPr dirty="0"/>
              <a:t>. Trong </a:t>
            </a:r>
            <a:r>
              <a:rPr dirty="0" err="1"/>
              <a:t>khoảng</a:t>
            </a:r>
            <a:r>
              <a:rPr dirty="0"/>
              <a:t> </a:t>
            </a:r>
            <a:r>
              <a:rPr dirty="0" err="1"/>
              <a:t>mười</a:t>
            </a:r>
            <a:r>
              <a:rPr dirty="0"/>
              <a:t> </a:t>
            </a:r>
            <a:r>
              <a:rPr dirty="0" err="1"/>
              <a:t>phút</a:t>
            </a:r>
            <a:r>
              <a:rPr dirty="0"/>
              <a:t>,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xin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văn</a:t>
            </a:r>
            <a:r>
              <a:rPr dirty="0"/>
              <a:t> “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vi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phép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xưởng</a:t>
            </a:r>
            <a:r>
              <a:rPr dirty="0"/>
              <a:t>”.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đến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–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,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sớm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.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bày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</a:t>
            </a:r>
            <a:r>
              <a:rPr dirty="0" err="1"/>
              <a:t>năm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dung: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lực</a:t>
            </a:r>
            <a:r>
              <a:rPr dirty="0"/>
              <a:t> </a:t>
            </a:r>
            <a:r>
              <a:rPr dirty="0" err="1"/>
              <a:t>nghiên</a:t>
            </a:r>
            <a:r>
              <a:rPr dirty="0"/>
              <a:t> </a:t>
            </a:r>
            <a:r>
              <a:rPr dirty="0" err="1"/>
              <a:t>cứu</a:t>
            </a:r>
            <a:r>
              <a:rPr dirty="0"/>
              <a:t>;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</a:t>
            </a:r>
            <a:r>
              <a:rPr dirty="0" err="1"/>
              <a:t>kỹ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;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;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hoạch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thí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còn</a:t>
            </a:r>
            <a:r>
              <a:rPr dirty="0"/>
              <a:t> </a:t>
            </a:r>
            <a:r>
              <a:rPr dirty="0" err="1"/>
              <a:t>thiếu</a:t>
            </a:r>
            <a:r>
              <a:rPr dirty="0"/>
              <a:t>;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viết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văn</a:t>
            </a:r>
            <a:r>
              <a:rPr dirty="0"/>
              <a:t> </a:t>
            </a:r>
            <a:r>
              <a:rPr dirty="0" err="1"/>
              <a:t>thạc</a:t>
            </a:r>
            <a:r>
              <a:rPr dirty="0"/>
              <a:t> </a:t>
            </a:r>
            <a:r>
              <a:rPr dirty="0" err="1"/>
              <a:t>sĩ</a:t>
            </a:r>
            <a:r>
              <a:rPr dirty="0"/>
              <a:t>.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tâm</a:t>
            </a:r>
            <a:r>
              <a:rPr dirty="0"/>
              <a:t> </a:t>
            </a:r>
            <a:r>
              <a:rPr dirty="0" err="1"/>
              <a:t>kỹ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Hybrid </a:t>
            </a:r>
            <a:r>
              <a:rPr dirty="0" err="1"/>
              <a:t>FGTN</a:t>
            </a:r>
            <a:r>
              <a:rPr dirty="0"/>
              <a:t>-Mamba, </a:t>
            </a:r>
            <a:r>
              <a:rPr dirty="0" err="1"/>
              <a:t>một</a:t>
            </a:r>
            <a:r>
              <a:rPr dirty="0"/>
              <a:t> temporal neck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bidirectional selective state-space model </a:t>
            </a:r>
            <a:r>
              <a:rPr dirty="0" err="1"/>
              <a:t>với</a:t>
            </a:r>
            <a:r>
              <a:rPr dirty="0"/>
              <a:t> windowed temporal attention,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 Video Swin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RoI</a:t>
            </a:r>
            <a:r>
              <a:rPr dirty="0"/>
              <a:t> Align. Em </a:t>
            </a:r>
            <a:r>
              <a:rPr dirty="0" err="1"/>
              <a:t>cũng</a:t>
            </a:r>
            <a:r>
              <a:rPr dirty="0"/>
              <a:t> </a:t>
            </a:r>
            <a:r>
              <a:rPr dirty="0" err="1"/>
              <a:t>sẽ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bày</a:t>
            </a:r>
            <a:r>
              <a:rPr dirty="0"/>
              <a:t> </a:t>
            </a:r>
            <a:r>
              <a:rPr dirty="0" err="1"/>
              <a:t>thẳng</a:t>
            </a:r>
            <a:r>
              <a:rPr dirty="0"/>
              <a:t> </a:t>
            </a:r>
            <a:r>
              <a:rPr dirty="0" err="1"/>
              <a:t>những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, </a:t>
            </a:r>
            <a:r>
              <a:rPr dirty="0" err="1"/>
              <a:t>những</a:t>
            </a:r>
            <a:r>
              <a:rPr dirty="0"/>
              <a:t> ablation </a:t>
            </a:r>
            <a:r>
              <a:rPr dirty="0" err="1"/>
              <a:t>còn</a:t>
            </a:r>
            <a:r>
              <a:rPr dirty="0"/>
              <a:t> </a:t>
            </a:r>
            <a:r>
              <a:rPr dirty="0" err="1"/>
              <a:t>thiếu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hoạch</a:t>
            </a:r>
            <a:r>
              <a:rPr dirty="0"/>
              <a:t> </a:t>
            </a:r>
            <a:r>
              <a:rPr lang="en-US" dirty="0" err="1"/>
              <a:t>hai</a:t>
            </a:r>
            <a:r>
              <a:rPr dirty="0"/>
              <a:t>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khóa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thiện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thảo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lực</a:t>
            </a:r>
            <a:r>
              <a:rPr dirty="0"/>
              <a:t> </a:t>
            </a:r>
            <a:r>
              <a:rPr dirty="0" err="1"/>
              <a:t>nghiên</a:t>
            </a:r>
            <a:r>
              <a:rPr dirty="0"/>
              <a:t> </a:t>
            </a:r>
            <a:r>
              <a:rPr dirty="0" err="1"/>
              <a:t>cứu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giám</a:t>
            </a:r>
            <a:r>
              <a:rPr dirty="0"/>
              <a:t> </a:t>
            </a:r>
            <a:r>
              <a:rPr dirty="0" err="1"/>
              <a:t>sát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. Khi </a:t>
            </a:r>
            <a:r>
              <a:rPr dirty="0" err="1"/>
              <a:t>số</a:t>
            </a:r>
            <a:r>
              <a:rPr dirty="0"/>
              <a:t> camera </a:t>
            </a:r>
            <a:r>
              <a:rPr dirty="0" err="1"/>
              <a:t>tăng</a:t>
            </a:r>
            <a:r>
              <a:rPr dirty="0"/>
              <a:t>, con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khó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dõi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tục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thường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xem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sự</a:t>
            </a:r>
            <a:r>
              <a:rPr dirty="0"/>
              <a:t> </a:t>
            </a:r>
            <a:r>
              <a:rPr dirty="0" err="1"/>
              <a:t>cố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xảy</a:t>
            </a:r>
            <a:r>
              <a:rPr dirty="0"/>
              <a:t> </a:t>
            </a:r>
            <a:r>
              <a:rPr dirty="0" err="1"/>
              <a:t>ra.</a:t>
            </a:r>
            <a:r>
              <a:rPr dirty="0"/>
              <a:t>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văn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clip,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–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actor: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mỗi</a:t>
            </a:r>
            <a:r>
              <a:rPr dirty="0"/>
              <a:t> keyframe,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, </a:t>
            </a:r>
            <a:r>
              <a:rPr dirty="0" err="1"/>
              <a:t>gán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nhãn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đưa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score. </a:t>
            </a:r>
            <a:r>
              <a:rPr dirty="0" err="1"/>
              <a:t>Bốn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vi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thang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. </a:t>
            </a:r>
            <a:r>
              <a:rPr dirty="0" err="1"/>
              <a:t>Sleep_on_table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feet_on_table</a:t>
            </a:r>
            <a:r>
              <a:rPr dirty="0"/>
              <a:t> </a:t>
            </a:r>
            <a:r>
              <a:rPr dirty="0" err="1"/>
              <a:t>ít</a:t>
            </a:r>
            <a:r>
              <a:rPr dirty="0"/>
              <a:t> </a:t>
            </a:r>
            <a:r>
              <a:rPr dirty="0" err="1"/>
              <a:t>chuyển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,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sát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frame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bền</a:t>
            </a:r>
            <a:r>
              <a:rPr dirty="0"/>
              <a:t>. </a:t>
            </a:r>
            <a:r>
              <a:rPr dirty="0" err="1"/>
              <a:t>Use_mobilephone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vật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nhỏ</a:t>
            </a:r>
            <a:r>
              <a:rPr dirty="0"/>
              <a:t>, </a:t>
            </a:r>
            <a:r>
              <a:rPr dirty="0" err="1"/>
              <a:t>còn</a:t>
            </a:r>
            <a:r>
              <a:rPr dirty="0"/>
              <a:t> </a:t>
            </a:r>
            <a:r>
              <a:rPr dirty="0" err="1"/>
              <a:t>dangerous_action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rất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vài</a:t>
            </a:r>
            <a:r>
              <a:rPr dirty="0"/>
              <a:t> frame. </a:t>
            </a:r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vậy</a:t>
            </a:r>
            <a:r>
              <a:rPr dirty="0"/>
              <a:t>,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tử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duy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khó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.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 </a:t>
            </a:r>
            <a:r>
              <a:rPr dirty="0" err="1"/>
              <a:t>truyền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dài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chi </a:t>
            </a:r>
            <a:r>
              <a:rPr dirty="0" err="1"/>
              <a:t>phí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,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giữ</a:t>
            </a:r>
            <a:r>
              <a:rPr dirty="0"/>
              <a:t> </a:t>
            </a:r>
            <a:r>
              <a:rPr dirty="0" err="1"/>
              <a:t>đường</a:t>
            </a:r>
            <a:r>
              <a:rPr dirty="0"/>
              <a:t> so </a:t>
            </a:r>
            <a:r>
              <a:rPr dirty="0" err="1"/>
              <a:t>khớp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frame </a:t>
            </a:r>
            <a:r>
              <a:rPr dirty="0" err="1"/>
              <a:t>gần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chi 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nhỏ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trích</a:t>
            </a:r>
            <a:r>
              <a:rPr dirty="0"/>
              <a:t> </a:t>
            </a:r>
            <a:r>
              <a:rPr dirty="0" err="1"/>
              <a:t>RoI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gồm</a:t>
            </a:r>
            <a:r>
              <a:rPr dirty="0"/>
              <a:t> </a:t>
            </a:r>
            <a:r>
              <a:rPr dirty="0" err="1"/>
              <a:t>năm</a:t>
            </a:r>
            <a:r>
              <a:rPr dirty="0"/>
              <a:t> </a:t>
            </a:r>
            <a:r>
              <a:rPr dirty="0" err="1"/>
              <a:t>bước</a:t>
            </a:r>
            <a:r>
              <a:rPr dirty="0"/>
              <a:t>.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tiên</a:t>
            </a:r>
            <a:r>
              <a:rPr dirty="0"/>
              <a:t>, Video Swin-Tiny </a:t>
            </a:r>
            <a:r>
              <a:rPr dirty="0" err="1"/>
              <a:t>trích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feature map stage 2 </a:t>
            </a:r>
            <a:r>
              <a:rPr dirty="0" err="1"/>
              <a:t>và</a:t>
            </a:r>
            <a:r>
              <a:rPr dirty="0"/>
              <a:t> stage 3. </a:t>
            </a:r>
            <a:r>
              <a:rPr dirty="0" err="1"/>
              <a:t>Mỗi</a:t>
            </a:r>
            <a:r>
              <a:rPr dirty="0"/>
              <a:t> stage </a:t>
            </a:r>
            <a:r>
              <a:rPr dirty="0" err="1"/>
              <a:t>đi</a:t>
            </a:r>
            <a:r>
              <a:rPr dirty="0"/>
              <a:t> qua </a:t>
            </a:r>
            <a:r>
              <a:rPr dirty="0" err="1"/>
              <a:t>một</a:t>
            </a:r>
            <a:r>
              <a:rPr dirty="0"/>
              <a:t> Hybrid </a:t>
            </a:r>
            <a:r>
              <a:rPr dirty="0" err="1"/>
              <a:t>FGTN</a:t>
            </a:r>
            <a:r>
              <a:rPr dirty="0"/>
              <a:t>-Mamba </a:t>
            </a:r>
            <a:r>
              <a:rPr dirty="0" err="1"/>
              <a:t>riêng</a:t>
            </a:r>
            <a:r>
              <a:rPr dirty="0"/>
              <a:t>,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tham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</a:t>
            </a:r>
            <a:r>
              <a:rPr dirty="0" err="1"/>
              <a:t>phù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nghĩa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stage </a:t>
            </a:r>
            <a:r>
              <a:rPr dirty="0" err="1"/>
              <a:t>đó</a:t>
            </a:r>
            <a:r>
              <a:rPr dirty="0"/>
              <a:t>. Hybrid </a:t>
            </a:r>
            <a:r>
              <a:rPr dirty="0" err="1"/>
              <a:t>nằm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 backbone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3D </a:t>
            </a:r>
            <a:r>
              <a:rPr dirty="0" err="1"/>
              <a:t>RoI</a:t>
            </a:r>
            <a:r>
              <a:rPr dirty="0"/>
              <a:t> Align, </a:t>
            </a:r>
            <a:r>
              <a:rPr dirty="0" err="1"/>
              <a:t>nên</a:t>
            </a:r>
            <a:r>
              <a:rPr dirty="0"/>
              <a:t>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giàu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crop </a:t>
            </a:r>
            <a:r>
              <a:rPr dirty="0" err="1"/>
              <a:t>theo</a:t>
            </a:r>
            <a:r>
              <a:rPr dirty="0"/>
              <a:t> person proposal. Sau </a:t>
            </a:r>
            <a:r>
              <a:rPr dirty="0" err="1"/>
              <a:t>đó</a:t>
            </a:r>
            <a:r>
              <a:rPr dirty="0"/>
              <a:t>, </a:t>
            </a:r>
            <a:r>
              <a:rPr dirty="0" err="1"/>
              <a:t>RoI</a:t>
            </a:r>
            <a:r>
              <a:rPr dirty="0"/>
              <a:t> Align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actor ở </a:t>
            </a:r>
            <a:r>
              <a:rPr dirty="0" err="1"/>
              <a:t>cả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tỉ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; stage 2 </a:t>
            </a:r>
            <a:r>
              <a:rPr dirty="0" err="1"/>
              <a:t>giữ</a:t>
            </a:r>
            <a:r>
              <a:rPr dirty="0"/>
              <a:t> chi </a:t>
            </a:r>
            <a:r>
              <a:rPr dirty="0" err="1"/>
              <a:t>tiết</a:t>
            </a:r>
            <a:r>
              <a:rPr dirty="0"/>
              <a:t> </a:t>
            </a:r>
            <a:r>
              <a:rPr dirty="0" err="1"/>
              <a:t>như</a:t>
            </a:r>
            <a:r>
              <a:rPr dirty="0"/>
              <a:t> </a:t>
            </a:r>
            <a:r>
              <a:rPr dirty="0" err="1"/>
              <a:t>điện</a:t>
            </a:r>
            <a:r>
              <a:rPr dirty="0"/>
              <a:t> </a:t>
            </a:r>
            <a:r>
              <a:rPr dirty="0" err="1"/>
              <a:t>thoại</a:t>
            </a:r>
            <a:r>
              <a:rPr dirty="0"/>
              <a:t>, </a:t>
            </a:r>
            <a:r>
              <a:rPr dirty="0" err="1"/>
              <a:t>tay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chân</a:t>
            </a:r>
            <a:r>
              <a:rPr dirty="0"/>
              <a:t>, </a:t>
            </a:r>
            <a:r>
              <a:rPr dirty="0" err="1"/>
              <a:t>còn</a:t>
            </a:r>
            <a:r>
              <a:rPr dirty="0"/>
              <a:t> stage 3 </a:t>
            </a:r>
            <a:r>
              <a:rPr dirty="0" err="1"/>
              <a:t>giữ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nghĩa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thân</a:t>
            </a:r>
            <a:r>
              <a:rPr dirty="0"/>
              <a:t>. Hai </a:t>
            </a:r>
            <a:r>
              <a:rPr dirty="0" err="1"/>
              <a:t>RoI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chiều</a:t>
            </a:r>
            <a:r>
              <a:rPr dirty="0"/>
              <a:t> </a:t>
            </a:r>
            <a:r>
              <a:rPr dirty="0" err="1"/>
              <a:t>kênh</a:t>
            </a:r>
            <a:r>
              <a:rPr dirty="0"/>
              <a:t> </a:t>
            </a:r>
            <a:r>
              <a:rPr dirty="0" err="1"/>
              <a:t>rồi</a:t>
            </a:r>
            <a:r>
              <a:rPr dirty="0"/>
              <a:t> </a:t>
            </a:r>
            <a:r>
              <a:rPr dirty="0" err="1"/>
              <a:t>đưa</a:t>
            </a:r>
            <a:r>
              <a:rPr dirty="0"/>
              <a:t> qua </a:t>
            </a:r>
            <a:r>
              <a:rPr dirty="0" err="1"/>
              <a:t>ACRN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actor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, </a:t>
            </a:r>
            <a:r>
              <a:rPr dirty="0" err="1"/>
              <a:t>ghế</a:t>
            </a:r>
            <a:r>
              <a:rPr dirty="0"/>
              <a:t>,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xung</a:t>
            </a:r>
            <a:r>
              <a:rPr dirty="0"/>
              <a:t> </a:t>
            </a:r>
            <a:r>
              <a:rPr dirty="0" err="1"/>
              <a:t>quanh</a:t>
            </a:r>
            <a:r>
              <a:rPr dirty="0"/>
              <a:t>. </a:t>
            </a:r>
            <a:r>
              <a:rPr dirty="0" err="1"/>
              <a:t>Cuối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, head sigmoid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đoán</a:t>
            </a:r>
            <a:r>
              <a:rPr dirty="0"/>
              <a:t> </a:t>
            </a:r>
            <a:r>
              <a:rPr dirty="0" err="1"/>
              <a:t>bốn</a:t>
            </a:r>
            <a:r>
              <a:rPr dirty="0"/>
              <a:t> </a:t>
            </a:r>
            <a:r>
              <a:rPr dirty="0" err="1"/>
              <a:t>nhãn</a:t>
            </a:r>
            <a:r>
              <a:rPr dirty="0"/>
              <a:t> </a:t>
            </a:r>
            <a:r>
              <a:rPr dirty="0" err="1"/>
              <a:t>độc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. Trong </a:t>
            </a:r>
            <a:r>
              <a:rPr dirty="0" err="1"/>
              <a:t>huấn</a:t>
            </a:r>
            <a:r>
              <a:rPr dirty="0"/>
              <a:t> </a:t>
            </a:r>
            <a:r>
              <a:rPr dirty="0" err="1"/>
              <a:t>luyện</a:t>
            </a:r>
            <a:r>
              <a:rPr dirty="0"/>
              <a:t>, focal loss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;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suy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, threshold </a:t>
            </a:r>
            <a:r>
              <a:rPr dirty="0" err="1"/>
              <a:t>riêng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logic </a:t>
            </a:r>
            <a:r>
              <a:rPr dirty="0" err="1"/>
              <a:t>theo</a:t>
            </a:r>
            <a:r>
              <a:rPr dirty="0"/>
              <a:t> track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chớp</a:t>
            </a:r>
            <a:r>
              <a:rPr dirty="0"/>
              <a:t> </a:t>
            </a:r>
            <a:r>
              <a:rPr dirty="0" err="1"/>
              <a:t>tắt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</a:t>
            </a:r>
            <a:r>
              <a:rPr dirty="0" err="1"/>
              <a:t>kỹ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ở </a:t>
            </a: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. </a:t>
            </a:r>
            <a:r>
              <a:rPr dirty="0" err="1"/>
              <a:t>Thứ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, Hybrid </a:t>
            </a:r>
            <a:r>
              <a:rPr dirty="0" err="1"/>
              <a:t>FGTN</a:t>
            </a:r>
            <a:r>
              <a:rPr dirty="0"/>
              <a:t>-Mamba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nhánh</a:t>
            </a:r>
            <a:r>
              <a:rPr dirty="0"/>
              <a:t> song song. Bidirectional selective SSM </a:t>
            </a:r>
            <a:r>
              <a:rPr dirty="0" err="1"/>
              <a:t>truyền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trục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chi </a:t>
            </a:r>
            <a:r>
              <a:rPr dirty="0" err="1"/>
              <a:t>phí</a:t>
            </a:r>
            <a:r>
              <a:rPr dirty="0"/>
              <a:t> </a:t>
            </a:r>
            <a:r>
              <a:rPr dirty="0" err="1"/>
              <a:t>tuyến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T; windowed temporal attention </a:t>
            </a:r>
            <a:r>
              <a:rPr dirty="0" err="1"/>
              <a:t>với</a:t>
            </a:r>
            <a:r>
              <a:rPr dirty="0"/>
              <a:t> W </a:t>
            </a:r>
            <a:r>
              <a:rPr dirty="0" err="1"/>
              <a:t>bằng</a:t>
            </a:r>
            <a:r>
              <a:rPr dirty="0"/>
              <a:t> 5 </a:t>
            </a:r>
            <a:r>
              <a:rPr dirty="0" err="1"/>
              <a:t>giữ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chuyển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cục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. </a:t>
            </a:r>
            <a:r>
              <a:rPr dirty="0" err="1"/>
              <a:t>Thứ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, sigmoid gate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kênh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nhánh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dung,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cộng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cố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. </a:t>
            </a:r>
            <a:r>
              <a:rPr dirty="0" err="1"/>
              <a:t>Thứ</a:t>
            </a:r>
            <a:r>
              <a:rPr dirty="0"/>
              <a:t> </a:t>
            </a:r>
            <a:r>
              <a:rPr dirty="0" err="1"/>
              <a:t>ba</a:t>
            </a:r>
            <a:r>
              <a:rPr dirty="0"/>
              <a:t>,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hậu</a:t>
            </a:r>
            <a:r>
              <a:rPr dirty="0"/>
              <a:t>-backbone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RoI</a:t>
            </a:r>
            <a:r>
              <a:rPr dirty="0"/>
              <a:t> Align, </a:t>
            </a:r>
            <a:r>
              <a:rPr dirty="0" err="1"/>
              <a:t>nhờ</a:t>
            </a:r>
            <a:r>
              <a:rPr dirty="0"/>
              <a:t> </a:t>
            </a:r>
            <a:r>
              <a:rPr dirty="0" err="1"/>
              <a:t>đó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Video Swin pretrained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giữ</a:t>
            </a:r>
            <a:r>
              <a:rPr dirty="0"/>
              <a:t> scene context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crop actor. </a:t>
            </a:r>
            <a:r>
              <a:rPr dirty="0" err="1"/>
              <a:t>Thứ</a:t>
            </a:r>
            <a:r>
              <a:rPr dirty="0"/>
              <a:t> </a:t>
            </a:r>
            <a:r>
              <a:rPr dirty="0" err="1"/>
              <a:t>tư</a:t>
            </a:r>
            <a:r>
              <a:rPr dirty="0"/>
              <a:t>,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độc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stage 2 </a:t>
            </a:r>
            <a:r>
              <a:rPr dirty="0" err="1"/>
              <a:t>và</a:t>
            </a:r>
            <a:r>
              <a:rPr dirty="0"/>
              <a:t> stage 3,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đó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multi-scale </a:t>
            </a:r>
            <a:r>
              <a:rPr dirty="0" err="1"/>
              <a:t>RoI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ACRN</a:t>
            </a:r>
            <a:r>
              <a:rPr dirty="0"/>
              <a:t>. Em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tuyên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Mamba, local attention, multi-scale hay </a:t>
            </a:r>
            <a:r>
              <a:rPr dirty="0" err="1"/>
              <a:t>ACRN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khái</a:t>
            </a:r>
            <a:r>
              <a:rPr dirty="0"/>
              <a:t> </a:t>
            </a:r>
            <a:r>
              <a:rPr dirty="0" err="1"/>
              <a:t>niệm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.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trí</a:t>
            </a:r>
            <a:r>
              <a:rPr dirty="0"/>
              <a:t> </a:t>
            </a:r>
            <a:r>
              <a:rPr dirty="0" err="1"/>
              <a:t>đặt</a:t>
            </a:r>
            <a:r>
              <a:rPr dirty="0"/>
              <a:t>, </a:t>
            </a:r>
            <a:r>
              <a:rPr dirty="0" err="1"/>
              <a:t>tham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stage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chuỗi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actor-level </a:t>
            </a:r>
            <a:r>
              <a:rPr dirty="0" err="1"/>
              <a:t>STAD</a:t>
            </a:r>
            <a:r>
              <a:rPr dirty="0"/>
              <a:t>.</a:t>
            </a:r>
            <a:endParaRPr lang="en-US" dirty="0"/>
          </a:p>
          <a:p>
            <a:pPr lvl="0"/>
            <a:r>
              <a:rPr lang="en-US" sz="1200" kern="1200" dirty="0" err="1">
                <a:effectLst/>
              </a:rPr>
              <a:t>Đề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xuất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khối</a:t>
            </a:r>
            <a:r>
              <a:rPr lang="en-US" sz="1200" kern="1200" dirty="0">
                <a:effectLst/>
              </a:rPr>
              <a:t> Hybrid </a:t>
            </a:r>
            <a:r>
              <a:rPr lang="en-US" sz="1200" kern="1200" dirty="0" err="1">
                <a:effectLst/>
              </a:rPr>
              <a:t>FGTN</a:t>
            </a:r>
            <a:r>
              <a:rPr lang="en-US" sz="1200" kern="1200" dirty="0">
                <a:effectLst/>
              </a:rPr>
              <a:t>-Mamba </a:t>
            </a:r>
            <a:r>
              <a:rPr lang="en-US" sz="1200" kern="1200" dirty="0" err="1">
                <a:effectLst/>
              </a:rPr>
              <a:t>kết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hợp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hai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nhánh</a:t>
            </a:r>
            <a:r>
              <a:rPr lang="en-US" sz="1200" kern="1200" dirty="0">
                <a:effectLst/>
              </a:rPr>
              <a:t>: </a:t>
            </a:r>
          </a:p>
          <a:p>
            <a:pPr lvl="1"/>
            <a:r>
              <a:rPr lang="en-US" sz="1800" dirty="0">
                <a:effectLst/>
              </a:rPr>
              <a:t>	Bidirectional selective SSM </a:t>
            </a:r>
            <a:r>
              <a:rPr lang="en-US" sz="1800" dirty="0" err="1">
                <a:effectLst/>
              </a:rPr>
              <a:t>để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mô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hình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hóa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phụ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thuộc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thời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gian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dài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hạn</a:t>
            </a:r>
            <a:r>
              <a:rPr lang="en-US" sz="1800" dirty="0">
                <a:effectLst/>
              </a:rPr>
              <a:t>. </a:t>
            </a:r>
          </a:p>
          <a:p>
            <a:pPr lvl="1"/>
            <a:r>
              <a:rPr lang="en-US" sz="1800" dirty="0">
                <a:effectLst/>
              </a:rPr>
              <a:t>	Windowed temporal attention </a:t>
            </a:r>
            <a:r>
              <a:rPr lang="en-US" sz="1800" dirty="0" err="1">
                <a:effectLst/>
              </a:rPr>
              <a:t>để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giữ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các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chuyển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tiếp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ngắn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hạn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giữa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những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khung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hình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lân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cận</a:t>
            </a:r>
            <a:r>
              <a:rPr lang="en-US" sz="1800" dirty="0">
                <a:effectLst/>
              </a:rPr>
              <a:t>. </a:t>
            </a:r>
          </a:p>
          <a:p>
            <a:pPr lvl="0"/>
            <a:r>
              <a:rPr lang="en-US" sz="1200" kern="1200" dirty="0" err="1">
                <a:effectLst/>
              </a:rPr>
              <a:t>Thiết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kế</a:t>
            </a:r>
            <a:r>
              <a:rPr lang="en-US" sz="1200" kern="1200" dirty="0">
                <a:effectLst/>
              </a:rPr>
              <a:t> sigmoid gate </a:t>
            </a:r>
            <a:r>
              <a:rPr lang="en-US" sz="1200" kern="1200" dirty="0" err="1">
                <a:effectLst/>
              </a:rPr>
              <a:t>phụ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thuộc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nội</a:t>
            </a:r>
            <a:r>
              <a:rPr lang="en-US" sz="1200" kern="1200" dirty="0">
                <a:effectLst/>
              </a:rPr>
              <a:t> dung </a:t>
            </a:r>
            <a:r>
              <a:rPr lang="en-US" sz="1200" kern="1200" dirty="0" err="1">
                <a:effectLst/>
              </a:rPr>
              <a:t>để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tự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động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điều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chỉnh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tỷ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trọng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giữa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đặc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trưng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dài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hạn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và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ngắn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hạn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theo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từng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kênh</a:t>
            </a:r>
            <a:r>
              <a:rPr lang="en-US" sz="1200" kern="1200" dirty="0">
                <a:effectLst/>
              </a:rPr>
              <a:t>. </a:t>
            </a:r>
          </a:p>
          <a:p>
            <a:pPr lvl="0"/>
            <a:r>
              <a:rPr lang="en-US" sz="1200" kern="1200" dirty="0" err="1">
                <a:effectLst/>
              </a:rPr>
              <a:t>Đặt</a:t>
            </a:r>
            <a:r>
              <a:rPr lang="en-US" sz="1200" kern="1200" dirty="0">
                <a:effectLst/>
              </a:rPr>
              <a:t> Hybrid </a:t>
            </a:r>
            <a:r>
              <a:rPr lang="en-US" sz="1200" kern="1200" dirty="0" err="1">
                <a:effectLst/>
              </a:rPr>
              <a:t>FGTN</a:t>
            </a:r>
            <a:r>
              <a:rPr lang="en-US" sz="1200" kern="1200" dirty="0">
                <a:effectLst/>
              </a:rPr>
              <a:t>-Mamba </a:t>
            </a:r>
            <a:r>
              <a:rPr lang="en-US" sz="1200" kern="1200" dirty="0" err="1">
                <a:effectLst/>
              </a:rPr>
              <a:t>tại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vị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trí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hậu</a:t>
            </a:r>
            <a:r>
              <a:rPr lang="en-US" sz="1200" kern="1200" dirty="0">
                <a:effectLst/>
              </a:rPr>
              <a:t>-backbone, </a:t>
            </a:r>
            <a:r>
              <a:rPr lang="en-US" sz="1200" kern="1200" dirty="0" err="1">
                <a:effectLst/>
              </a:rPr>
              <a:t>trước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RoI</a:t>
            </a:r>
            <a:r>
              <a:rPr lang="en-US" sz="1200" kern="1200" dirty="0">
                <a:effectLst/>
              </a:rPr>
              <a:t> Align, </a:t>
            </a:r>
            <a:r>
              <a:rPr lang="en-US" sz="1200" kern="1200" dirty="0" err="1">
                <a:effectLst/>
              </a:rPr>
              <a:t>giúp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làm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giàu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đặc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trưng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thời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gian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trước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khi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trích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xuất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đặc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trưng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của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từng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người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mà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không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phải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thay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đổi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cấu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trúc</a:t>
            </a:r>
            <a:r>
              <a:rPr lang="en-US" sz="1200" kern="1200" dirty="0">
                <a:effectLst/>
              </a:rPr>
              <a:t> backbone pretrained. </a:t>
            </a:r>
          </a:p>
          <a:p>
            <a:pPr lvl="0"/>
            <a:r>
              <a:rPr lang="en-US" sz="1200" kern="1200" dirty="0" err="1">
                <a:effectLst/>
              </a:rPr>
              <a:t>Áp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dụng</a:t>
            </a:r>
            <a:r>
              <a:rPr lang="en-US" sz="1200" kern="1200" dirty="0">
                <a:effectLst/>
              </a:rPr>
              <a:t> Hybrid </a:t>
            </a:r>
            <a:r>
              <a:rPr lang="en-US" sz="1200" kern="1200" dirty="0" err="1">
                <a:effectLst/>
              </a:rPr>
              <a:t>FGTN</a:t>
            </a:r>
            <a:r>
              <a:rPr lang="en-US" sz="1200" kern="1200" dirty="0">
                <a:effectLst/>
              </a:rPr>
              <a:t>-Mamba </a:t>
            </a:r>
            <a:r>
              <a:rPr lang="en-US" sz="1200" kern="1200" dirty="0" err="1">
                <a:effectLst/>
              </a:rPr>
              <a:t>độc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lập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trên</a:t>
            </a:r>
            <a:r>
              <a:rPr lang="en-US" sz="1200" kern="1200" dirty="0">
                <a:effectLst/>
              </a:rPr>
              <a:t> stage 2 </a:t>
            </a:r>
            <a:r>
              <a:rPr lang="en-US" sz="1200" kern="1200" dirty="0" err="1">
                <a:effectLst/>
              </a:rPr>
              <a:t>và</a:t>
            </a:r>
            <a:r>
              <a:rPr lang="en-US" sz="1200" kern="1200" dirty="0">
                <a:effectLst/>
              </a:rPr>
              <a:t> stage 3 </a:t>
            </a:r>
            <a:r>
              <a:rPr lang="en-US" sz="1200" kern="1200" dirty="0" err="1">
                <a:effectLst/>
              </a:rPr>
              <a:t>với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bộ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tham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số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riêng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cho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từng</a:t>
            </a:r>
            <a:r>
              <a:rPr lang="en-US" sz="1200" kern="1200" dirty="0">
                <a:effectLst/>
              </a:rPr>
              <a:t> stage </a:t>
            </a:r>
            <a:r>
              <a:rPr lang="en-US" sz="1200" kern="1200" dirty="0" err="1">
                <a:effectLst/>
              </a:rPr>
              <a:t>nhằm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thích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nghi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với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đặc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trưng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có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độ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phân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giải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và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mức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ngữ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nghĩa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khác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nhau</a:t>
            </a:r>
            <a:r>
              <a:rPr lang="en-US" sz="1200" kern="1200" dirty="0">
                <a:effectLst/>
              </a:rPr>
              <a:t>. </a:t>
            </a:r>
          </a:p>
          <a:p>
            <a:pPr lvl="0"/>
            <a:r>
              <a:rPr lang="en-US" sz="1200" kern="1200" dirty="0" err="1">
                <a:effectLst/>
              </a:rPr>
              <a:t>Kết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hợp</a:t>
            </a:r>
            <a:r>
              <a:rPr lang="en-US" sz="1200" kern="1200" dirty="0">
                <a:effectLst/>
              </a:rPr>
              <a:t> multi-scale </a:t>
            </a:r>
            <a:r>
              <a:rPr lang="en-US" sz="1200" kern="1200" dirty="0" err="1">
                <a:effectLst/>
              </a:rPr>
              <a:t>RoI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từ</a:t>
            </a:r>
            <a:r>
              <a:rPr lang="en-US" sz="1200" kern="1200" dirty="0">
                <a:effectLst/>
              </a:rPr>
              <a:t> stage 2 </a:t>
            </a:r>
            <a:r>
              <a:rPr lang="en-US" sz="1200" kern="1200" dirty="0" err="1">
                <a:effectLst/>
              </a:rPr>
              <a:t>và</a:t>
            </a:r>
            <a:r>
              <a:rPr lang="en-US" sz="1200" kern="1200" dirty="0">
                <a:effectLst/>
              </a:rPr>
              <a:t> stage 3 </a:t>
            </a:r>
            <a:r>
              <a:rPr lang="en-US" sz="1200" kern="1200" dirty="0" err="1">
                <a:effectLst/>
              </a:rPr>
              <a:t>để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đồng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thời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bảo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toàn</a:t>
            </a:r>
            <a:r>
              <a:rPr lang="en-US" sz="1200" kern="1200" dirty="0">
                <a:effectLst/>
              </a:rPr>
              <a:t>: </a:t>
            </a:r>
          </a:p>
          <a:p>
            <a:pPr lvl="1"/>
            <a:r>
              <a:rPr lang="en-US" sz="1800" dirty="0">
                <a:effectLst/>
              </a:rPr>
              <a:t>	Chi </a:t>
            </a:r>
            <a:r>
              <a:rPr lang="en-US" sz="1800" dirty="0" err="1">
                <a:effectLst/>
              </a:rPr>
              <a:t>tiết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nhỏ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như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điện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thoại</a:t>
            </a:r>
            <a:r>
              <a:rPr lang="en-US" sz="1800" dirty="0">
                <a:effectLst/>
              </a:rPr>
              <a:t>, </a:t>
            </a:r>
            <a:r>
              <a:rPr lang="en-US" sz="1800" dirty="0" err="1">
                <a:effectLst/>
              </a:rPr>
              <a:t>bàn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tay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và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bàn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chân</a:t>
            </a:r>
            <a:r>
              <a:rPr lang="en-US" sz="1800" dirty="0">
                <a:effectLst/>
              </a:rPr>
              <a:t>. </a:t>
            </a:r>
          </a:p>
          <a:p>
            <a:pPr lvl="1"/>
            <a:r>
              <a:rPr lang="en-US" sz="1800" dirty="0">
                <a:effectLst/>
              </a:rPr>
              <a:t>	</a:t>
            </a:r>
            <a:r>
              <a:rPr lang="en-US" sz="1800" dirty="0" err="1">
                <a:effectLst/>
              </a:rPr>
              <a:t>Đặc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trưng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ngữ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nghĩa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toàn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thân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và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hành</a:t>
            </a:r>
            <a:r>
              <a:rPr lang="en-US" sz="1800" dirty="0">
                <a:effectLst/>
              </a:rPr>
              <a:t> vi </a:t>
            </a:r>
            <a:r>
              <a:rPr lang="en-US" sz="1800" dirty="0" err="1">
                <a:effectLst/>
              </a:rPr>
              <a:t>của</a:t>
            </a:r>
            <a:r>
              <a:rPr lang="en-US" sz="1800" dirty="0">
                <a:effectLst/>
              </a:rPr>
              <a:t> </a:t>
            </a:r>
            <a:r>
              <a:rPr lang="en-US" sz="1800" dirty="0" err="1">
                <a:effectLst/>
              </a:rPr>
              <a:t>người</a:t>
            </a:r>
            <a:r>
              <a:rPr lang="en-US" sz="1800" dirty="0">
                <a:effectLst/>
              </a:rPr>
              <a:t>. </a:t>
            </a:r>
          </a:p>
          <a:p>
            <a:pPr lvl="0"/>
            <a:r>
              <a:rPr lang="en-US" sz="1200" kern="1200" dirty="0" err="1">
                <a:effectLst/>
              </a:rPr>
              <a:t>Tích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hợp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ACRN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sau</a:t>
            </a:r>
            <a:r>
              <a:rPr lang="en-US" sz="1200" kern="1200" dirty="0">
                <a:effectLst/>
              </a:rPr>
              <a:t> multi-scale </a:t>
            </a:r>
            <a:r>
              <a:rPr lang="en-US" sz="1200" kern="1200" dirty="0" err="1">
                <a:effectLst/>
              </a:rPr>
              <a:t>RoI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để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mô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hình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hóa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quan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hệ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giữa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từng</a:t>
            </a:r>
            <a:r>
              <a:rPr lang="en-US" sz="1200" kern="1200" dirty="0">
                <a:effectLst/>
              </a:rPr>
              <a:t> actor </a:t>
            </a:r>
            <a:r>
              <a:rPr lang="en-US" sz="1200" kern="1200" dirty="0" err="1">
                <a:effectLst/>
              </a:rPr>
              <a:t>với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cảnh</a:t>
            </a:r>
            <a:r>
              <a:rPr lang="en-US" sz="1200" kern="1200" dirty="0">
                <a:effectLst/>
              </a:rPr>
              <a:t>, </a:t>
            </a:r>
            <a:r>
              <a:rPr lang="en-US" sz="1200" kern="1200" dirty="0" err="1">
                <a:effectLst/>
              </a:rPr>
              <a:t>bàn</a:t>
            </a:r>
            <a:r>
              <a:rPr lang="en-US" sz="1200" kern="1200" dirty="0">
                <a:effectLst/>
              </a:rPr>
              <a:t>, </a:t>
            </a:r>
            <a:r>
              <a:rPr lang="en-US" sz="1200" kern="1200" dirty="0" err="1">
                <a:effectLst/>
              </a:rPr>
              <a:t>ghế</a:t>
            </a:r>
            <a:r>
              <a:rPr lang="en-US" sz="1200" kern="1200" dirty="0">
                <a:effectLst/>
              </a:rPr>
              <a:t>, </a:t>
            </a:r>
            <a:r>
              <a:rPr lang="en-US" sz="1200" kern="1200" dirty="0" err="1">
                <a:effectLst/>
              </a:rPr>
              <a:t>thiết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bị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và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các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vùng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không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gian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liên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quan</a:t>
            </a:r>
            <a:r>
              <a:rPr lang="en-US" sz="1200" kern="1200" dirty="0">
                <a:effectLst/>
              </a:rPr>
              <a:t>. </a:t>
            </a:r>
          </a:p>
          <a:p>
            <a:pPr lvl="0"/>
            <a:r>
              <a:rPr lang="en-US" sz="1200" kern="1200" dirty="0" err="1">
                <a:effectLst/>
              </a:rPr>
              <a:t>Xây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dựng</a:t>
            </a:r>
            <a:r>
              <a:rPr lang="en-US" sz="1200" kern="1200" dirty="0">
                <a:effectLst/>
              </a:rPr>
              <a:t> pipeline </a:t>
            </a:r>
            <a:r>
              <a:rPr lang="en-US" sz="1200" kern="1200" dirty="0" err="1">
                <a:effectLst/>
              </a:rPr>
              <a:t>STAD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hoàn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chỉnh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theo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từng</a:t>
            </a:r>
            <a:r>
              <a:rPr lang="en-US" sz="1200" kern="1200" dirty="0">
                <a:effectLst/>
              </a:rPr>
              <a:t> </a:t>
            </a:r>
            <a:r>
              <a:rPr lang="en-US" sz="1200" kern="1200" dirty="0" err="1">
                <a:effectLst/>
              </a:rPr>
              <a:t>người</a:t>
            </a:r>
            <a:r>
              <a:rPr lang="en-US" sz="1200" kern="1200" dirty="0">
                <a:effectLst/>
              </a:rPr>
              <a:t>:</a:t>
            </a:r>
          </a:p>
          <a:p>
            <a:r>
              <a:rPr lang="en-US" sz="1200" b="1" kern="1200" dirty="0">
                <a:effectLst/>
              </a:rPr>
              <a:t>Video Swin → Hybrid </a:t>
            </a:r>
            <a:r>
              <a:rPr lang="en-US" sz="1200" b="1" kern="1200" dirty="0" err="1">
                <a:effectLst/>
              </a:rPr>
              <a:t>FGTN</a:t>
            </a:r>
            <a:r>
              <a:rPr lang="en-US" sz="1200" b="1" kern="1200" dirty="0">
                <a:effectLst/>
              </a:rPr>
              <a:t>-Mamba </a:t>
            </a:r>
            <a:r>
              <a:rPr lang="en-US" sz="1200" b="1" kern="1200" dirty="0" err="1">
                <a:effectLst/>
              </a:rPr>
              <a:t>đa</a:t>
            </a:r>
            <a:r>
              <a:rPr lang="en-US" sz="1200" b="1" kern="1200" dirty="0">
                <a:effectLst/>
              </a:rPr>
              <a:t> stage → Multi-scale </a:t>
            </a:r>
            <a:r>
              <a:rPr lang="en-US" sz="1200" b="1" kern="1200" dirty="0" err="1">
                <a:effectLst/>
              </a:rPr>
              <a:t>RoI</a:t>
            </a:r>
            <a:r>
              <a:rPr lang="en-US" sz="1200" b="1" kern="1200" dirty="0">
                <a:effectLst/>
              </a:rPr>
              <a:t> → </a:t>
            </a:r>
            <a:r>
              <a:rPr lang="en-US" sz="1200" b="1" kern="1200" dirty="0" err="1">
                <a:effectLst/>
              </a:rPr>
              <a:t>ACRN</a:t>
            </a:r>
            <a:r>
              <a:rPr lang="en-US" sz="1200" b="1" kern="1200" dirty="0">
                <a:effectLst/>
              </a:rPr>
              <a:t> → Head </a:t>
            </a:r>
            <a:r>
              <a:rPr lang="en-US" sz="1200" b="1" kern="1200" dirty="0" err="1">
                <a:effectLst/>
              </a:rPr>
              <a:t>đa</a:t>
            </a:r>
            <a:r>
              <a:rPr lang="en-US" sz="1200" b="1" kern="1200" dirty="0">
                <a:effectLst/>
              </a:rPr>
              <a:t> </a:t>
            </a:r>
            <a:r>
              <a:rPr lang="en-US" sz="1200" b="1" kern="1200" dirty="0" err="1">
                <a:effectLst/>
              </a:rPr>
              <a:t>nhãn</a:t>
            </a:r>
            <a:r>
              <a:rPr lang="en-US" sz="1200" b="1" kern="1200" dirty="0">
                <a:effectLst/>
              </a:rPr>
              <a:t>.</a:t>
            </a:r>
            <a:endParaRPr lang="en-US" sz="1200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thấy</a:t>
            </a:r>
            <a:r>
              <a:rPr dirty="0"/>
              <a:t> pipeline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</a:t>
            </a:r>
            <a:r>
              <a:rPr dirty="0" err="1"/>
              <a:t>đạt</a:t>
            </a:r>
            <a:r>
              <a:rPr dirty="0"/>
              <a:t> </a:t>
            </a:r>
            <a:r>
              <a:rPr lang="en-US" sz="1200" b="1" dirty="0">
                <a:solidFill>
                  <a:srgbClr val="6DCBF4"/>
                </a:solidFill>
                <a:latin typeface="Arial"/>
                <a:ea typeface="Arial"/>
                <a:cs typeface="Arial"/>
              </a:rPr>
              <a:t>89,83%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trăm</a:t>
            </a:r>
            <a:r>
              <a:rPr dirty="0"/>
              <a:t> </a:t>
            </a:r>
            <a:r>
              <a:rPr dirty="0" err="1"/>
              <a:t>mAP</a:t>
            </a:r>
            <a:r>
              <a:rPr dirty="0"/>
              <a:t>. Precision </a:t>
            </a:r>
            <a:r>
              <a:rPr dirty="0" err="1"/>
              <a:t>và</a:t>
            </a:r>
            <a:r>
              <a:rPr dirty="0"/>
              <a:t> Recall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ngưỡng</a:t>
            </a:r>
            <a:r>
              <a:rPr dirty="0"/>
              <a:t> 0,5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đạt</a:t>
            </a:r>
            <a:r>
              <a:rPr dirty="0"/>
              <a:t> 81,82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trăm</a:t>
            </a:r>
            <a:r>
              <a:rPr dirty="0"/>
              <a:t>, </a:t>
            </a:r>
            <a:r>
              <a:rPr dirty="0" err="1"/>
              <a:t>tốc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lớn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20 FPS </a:t>
            </a:r>
            <a:r>
              <a:rPr dirty="0" err="1"/>
              <a:t>và</a:t>
            </a:r>
            <a:r>
              <a:rPr dirty="0"/>
              <a:t> VRAM </a:t>
            </a:r>
            <a:r>
              <a:rPr dirty="0" err="1"/>
              <a:t>khoảng</a:t>
            </a:r>
            <a:r>
              <a:rPr dirty="0"/>
              <a:t> 10 GB. So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lượt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,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</a:t>
            </a:r>
            <a:r>
              <a:rPr dirty="0" err="1"/>
              <a:t>FastViT3D-SA12</a:t>
            </a:r>
            <a:r>
              <a:rPr dirty="0"/>
              <a:t> </a:t>
            </a:r>
            <a:r>
              <a:rPr lang="en-US" dirty="0"/>
              <a:t>5</a:t>
            </a:r>
            <a:r>
              <a:rPr dirty="0"/>
              <a:t>,17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EfficientViT3D-b1</a:t>
            </a:r>
            <a:r>
              <a:rPr dirty="0"/>
              <a:t> </a:t>
            </a:r>
            <a:r>
              <a:rPr lang="en-US" dirty="0"/>
              <a:t>10.07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; </a:t>
            </a:r>
            <a:r>
              <a:rPr dirty="0" err="1"/>
              <a:t>chênh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YOWOv2</a:t>
            </a:r>
            <a:r>
              <a:rPr dirty="0"/>
              <a:t>-Nano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SlowFast-R50</a:t>
            </a:r>
            <a:r>
              <a:rPr lang="en-US" dirty="0"/>
              <a:t> </a:t>
            </a:r>
            <a:r>
              <a:rPr lang="en-US" dirty="0" err="1"/>
              <a:t>còn</a:t>
            </a:r>
            <a:r>
              <a:rPr dirty="0"/>
              <a:t> </a:t>
            </a:r>
            <a:r>
              <a:rPr dirty="0" err="1"/>
              <a:t>lớn</a:t>
            </a:r>
            <a:r>
              <a:rPr dirty="0"/>
              <a:t> </a:t>
            </a:r>
            <a:r>
              <a:rPr dirty="0" err="1"/>
              <a:t>hơn</a:t>
            </a:r>
            <a:r>
              <a:rPr lang="en-US" dirty="0"/>
              <a:t> </a:t>
            </a:r>
            <a:r>
              <a:rPr lang="en-US" dirty="0" err="1"/>
              <a:t>nhiều</a:t>
            </a:r>
            <a:r>
              <a:rPr dirty="0"/>
              <a:t>. </a:t>
            </a:r>
            <a:r>
              <a:rPr dirty="0" err="1"/>
              <a:t>Trên</a:t>
            </a:r>
            <a:r>
              <a:rPr dirty="0"/>
              <a:t> AVA </a:t>
            </a:r>
            <a:r>
              <a:rPr dirty="0" err="1"/>
              <a:t>v2.2</a:t>
            </a:r>
            <a:r>
              <a:rPr dirty="0"/>
              <a:t>,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39,1 </a:t>
            </a:r>
            <a:r>
              <a:rPr dirty="0" err="1"/>
              <a:t>mAP</a:t>
            </a:r>
            <a:r>
              <a:rPr dirty="0"/>
              <a:t>, </a:t>
            </a:r>
            <a:r>
              <a:rPr dirty="0" err="1"/>
              <a:t>gần</a:t>
            </a:r>
            <a:r>
              <a:rPr dirty="0"/>
              <a:t> </a:t>
            </a:r>
            <a:r>
              <a:rPr dirty="0" err="1"/>
              <a:t>mức</a:t>
            </a:r>
            <a:r>
              <a:rPr dirty="0"/>
              <a:t> 39,2 </a:t>
            </a:r>
            <a:r>
              <a:rPr dirty="0" err="1"/>
              <a:t>của</a:t>
            </a:r>
            <a:r>
              <a:rPr dirty="0"/>
              <a:t> STAR/L. </a:t>
            </a:r>
            <a:r>
              <a:rPr dirty="0" err="1"/>
              <a:t>Về</a:t>
            </a:r>
            <a:r>
              <a:rPr dirty="0"/>
              <a:t> ablation,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ACRN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lang="en-US" dirty="0"/>
              <a:t>83</a:t>
            </a:r>
            <a:r>
              <a:rPr dirty="0"/>
              <a:t>,60 </a:t>
            </a:r>
            <a:r>
              <a:rPr dirty="0" err="1"/>
              <a:t>lên</a:t>
            </a:r>
            <a:r>
              <a:rPr dirty="0"/>
              <a:t> </a:t>
            </a:r>
            <a:r>
              <a:rPr lang="en-US" dirty="0"/>
              <a:t>8</a:t>
            </a:r>
            <a:r>
              <a:rPr dirty="0"/>
              <a:t>9,83, </a:t>
            </a:r>
            <a:r>
              <a:rPr dirty="0" err="1"/>
              <a:t>tức</a:t>
            </a:r>
            <a:r>
              <a:rPr dirty="0"/>
              <a:t> </a:t>
            </a:r>
            <a:r>
              <a:rPr dirty="0" err="1"/>
              <a:t>cộng</a:t>
            </a:r>
            <a:r>
              <a:rPr dirty="0"/>
              <a:t> </a:t>
            </a:r>
            <a:r>
              <a:rPr lang="en-US" dirty="0"/>
              <a:t>6</a:t>
            </a:r>
            <a:r>
              <a:rPr dirty="0"/>
              <a:t>,23 </a:t>
            </a:r>
            <a:r>
              <a:rPr dirty="0" err="1"/>
              <a:t>điểm</a:t>
            </a:r>
            <a:r>
              <a:rPr dirty="0"/>
              <a:t>. Các </a:t>
            </a:r>
            <a:r>
              <a:rPr dirty="0" err="1"/>
              <a:t>cặp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Hybrid — SSM so </a:t>
            </a:r>
            <a:r>
              <a:rPr dirty="0" err="1"/>
              <a:t>với</a:t>
            </a:r>
            <a:r>
              <a:rPr dirty="0"/>
              <a:t> local, </a:t>
            </a:r>
            <a:r>
              <a:rPr dirty="0" err="1"/>
              <a:t>cộng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so </a:t>
            </a:r>
            <a:r>
              <a:rPr dirty="0" err="1"/>
              <a:t>với</a:t>
            </a:r>
            <a:r>
              <a:rPr dirty="0"/>
              <a:t> sigmoid gate </a:t>
            </a:r>
            <a:r>
              <a:rPr dirty="0" err="1"/>
              <a:t>và</a:t>
            </a:r>
            <a:r>
              <a:rPr dirty="0"/>
              <a:t> BCE so </a:t>
            </a:r>
            <a:r>
              <a:rPr dirty="0" err="1"/>
              <a:t>với</a:t>
            </a:r>
            <a:r>
              <a:rPr dirty="0"/>
              <a:t> focal </a:t>
            </a:r>
            <a:r>
              <a:rPr dirty="0" err="1"/>
              <a:t>cộng</a:t>
            </a:r>
            <a:r>
              <a:rPr dirty="0"/>
              <a:t> weight —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thiện</a:t>
            </a:r>
            <a:r>
              <a:rPr dirty="0"/>
              <a:t>. </a:t>
            </a:r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vậy</a:t>
            </a:r>
            <a:r>
              <a:rPr dirty="0"/>
              <a:t>,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pipeline </a:t>
            </a:r>
            <a:r>
              <a:rPr dirty="0" err="1"/>
              <a:t>tốt</a:t>
            </a:r>
            <a:r>
              <a:rPr dirty="0"/>
              <a:t>,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B4DAA-0D07-EBDA-6D7D-9B7340AFB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1286F-FAA6-7380-47CC-543FEE335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EB591-3597-BA89-A5CD-45E038C68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b="1" dirty="0"/>
              <a:t>Các </a:t>
            </a:r>
            <a:r>
              <a:rPr lang="en-US" b="1" dirty="0" err="1"/>
              <a:t>cặp</a:t>
            </a:r>
            <a:r>
              <a:rPr lang="en-US" b="1" dirty="0"/>
              <a:t> so </a:t>
            </a:r>
            <a:r>
              <a:rPr lang="en-US" b="1" dirty="0" err="1"/>
              <a:t>sánh</a:t>
            </a:r>
            <a:r>
              <a:rPr lang="en-US" b="1" dirty="0"/>
              <a:t>:</a:t>
            </a:r>
            <a:endParaRPr lang="en-US" dirty="0"/>
          </a:p>
          <a:p>
            <a:pPr lvl="0" rtl="0"/>
            <a:r>
              <a:rPr lang="en-US" b="1" dirty="0"/>
              <a:t>A0 → A1:</a:t>
            </a:r>
            <a:r>
              <a:rPr lang="en-US" dirty="0"/>
              <a:t> A0 </a:t>
            </a:r>
            <a:r>
              <a:rPr lang="en-US" dirty="0" err="1"/>
              <a:t>là</a:t>
            </a:r>
            <a:r>
              <a:rPr lang="en-US" dirty="0"/>
              <a:t> Video Swin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temporal neck,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mốc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. A1 </a:t>
            </a:r>
            <a:r>
              <a:rPr lang="en-US" dirty="0" err="1"/>
              <a:t>thêm</a:t>
            </a:r>
            <a:r>
              <a:rPr lang="en-US" dirty="0"/>
              <a:t> temporal MHSA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ở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Hybrid. </a:t>
            </a:r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neck </a:t>
            </a:r>
            <a:r>
              <a:rPr lang="en-US" dirty="0" err="1"/>
              <a:t>không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neck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.</a:t>
            </a:r>
          </a:p>
          <a:p>
            <a:pPr lvl="0" rtl="0"/>
            <a:r>
              <a:rPr lang="en-US" b="1" dirty="0"/>
              <a:t>A2, A3, A4: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. A2 </a:t>
            </a:r>
            <a:r>
              <a:rPr lang="en-US" dirty="0" err="1"/>
              <a:t>là</a:t>
            </a:r>
            <a:r>
              <a:rPr lang="en-US" dirty="0"/>
              <a:t> SSM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, A3 </a:t>
            </a:r>
            <a:r>
              <a:rPr lang="en-US" dirty="0" err="1"/>
              <a:t>là</a:t>
            </a:r>
            <a:r>
              <a:rPr lang="en-US" dirty="0"/>
              <a:t> Bi-SSM, A4 </a:t>
            </a:r>
            <a:r>
              <a:rPr lang="en-US" dirty="0" err="1"/>
              <a:t>là</a:t>
            </a:r>
            <a:r>
              <a:rPr lang="en-US" dirty="0"/>
              <a:t> attention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W = 5. </a:t>
            </a:r>
            <a:r>
              <a:rPr lang="en-US" dirty="0" err="1"/>
              <a:t>Cặp</a:t>
            </a:r>
            <a:r>
              <a:rPr lang="en-US" dirty="0"/>
              <a:t> A2–A3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quét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(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keyframe)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. A3 </a:t>
            </a:r>
            <a:r>
              <a:rPr lang="en-US" dirty="0" err="1"/>
              <a:t>và</a:t>
            </a:r>
            <a:r>
              <a:rPr lang="en-US" dirty="0"/>
              <a:t> A4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đứng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.</a:t>
            </a:r>
          </a:p>
          <a:p>
            <a:pPr lvl="0" rtl="0"/>
            <a:r>
              <a:rPr lang="en-US" b="1" dirty="0"/>
              <a:t>A5 → A6: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. A5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A6 </a:t>
            </a:r>
            <a:r>
              <a:rPr lang="en-US" dirty="0" err="1"/>
              <a:t>dùng</a:t>
            </a:r>
            <a:r>
              <a:rPr lang="en-US" dirty="0"/>
              <a:t> sigmoid gate,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gate.</a:t>
            </a:r>
          </a:p>
          <a:p>
            <a:pPr lvl="0" rtl="0"/>
            <a:r>
              <a:rPr lang="en-US" b="1" dirty="0"/>
              <a:t>A6 → A7: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stage 3 </a:t>
            </a:r>
            <a:r>
              <a:rPr lang="en-US" dirty="0" err="1"/>
              <a:t>lên</a:t>
            </a:r>
            <a:r>
              <a:rPr lang="en-US" dirty="0"/>
              <a:t> stage 2 + 3,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(RQ3).</a:t>
            </a:r>
          </a:p>
          <a:p>
            <a:pPr lvl="0" rtl="0"/>
            <a:r>
              <a:rPr lang="en-US" b="1" dirty="0"/>
              <a:t>A7 → A8: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ACRN (RQ4).</a:t>
            </a:r>
          </a:p>
          <a:p>
            <a:pPr lvl="0" rtl="0"/>
            <a:r>
              <a:rPr lang="en-US" b="1" dirty="0"/>
              <a:t>A9:</a:t>
            </a:r>
            <a:r>
              <a:rPr lang="en-US" dirty="0"/>
              <a:t> </a:t>
            </a:r>
            <a:r>
              <a:rPr lang="en-US" dirty="0" err="1"/>
              <a:t>bốn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mát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A8.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FC776-894E-B2CC-F0EF-EA18AEE2DCF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3060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E4947-0A3C-3487-CB32-1CF3B443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9EABA-B571-D072-D557-8A1E63B2B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12B5C-D0D6-BF31-52DD-D0E46CA71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US" b="1" dirty="0"/>
              <a:t>Giao </a:t>
            </a:r>
            <a:r>
              <a:rPr lang="en-US" b="1" dirty="0" err="1"/>
              <a:t>thức</a:t>
            </a:r>
            <a:r>
              <a:rPr lang="en-US" b="1" dirty="0"/>
              <a:t> </a:t>
            </a:r>
            <a:r>
              <a:rPr lang="en-US" b="1" dirty="0" err="1"/>
              <a:t>chung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pPr lvl="1" rtl="0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3 seed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±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.</a:t>
            </a:r>
          </a:p>
          <a:p>
            <a:pPr lvl="1" rtl="0"/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chia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S1 chia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cũ</a:t>
            </a:r>
            <a:r>
              <a:rPr lang="en-US" dirty="0"/>
              <a:t>, S2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camera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. S2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rò</a:t>
            </a:r>
            <a:r>
              <a:rPr lang="en-US" dirty="0"/>
              <a:t> </a:t>
            </a:r>
            <a:r>
              <a:rPr lang="en-US" dirty="0" err="1"/>
              <a:t>rỉ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,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144B7-4C4D-BCF6-19B2-77AF50B2CB1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8428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hoạch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chia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b</a:t>
            </a:r>
            <a:r>
              <a:rPr lang="en-US" dirty="0" err="1"/>
              <a:t>a</a:t>
            </a:r>
            <a:r>
              <a:rPr dirty="0"/>
              <a:t>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ngày</a:t>
            </a:r>
            <a:r>
              <a:rPr dirty="0"/>
              <a:t> 2</a:t>
            </a:r>
            <a:r>
              <a:rPr lang="en-US" dirty="0"/>
              <a:t>2</a:t>
            </a:r>
            <a:r>
              <a:rPr dirty="0"/>
              <a:t> </a:t>
            </a:r>
            <a:r>
              <a:rPr dirty="0" err="1"/>
              <a:t>tháng</a:t>
            </a:r>
            <a:r>
              <a:rPr dirty="0"/>
              <a:t> 7.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khóa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ablation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tiên</a:t>
            </a:r>
            <a:r>
              <a:rPr dirty="0"/>
              <a:t>: baseline </a:t>
            </a:r>
            <a:r>
              <a:rPr dirty="0" err="1"/>
              <a:t>không</a:t>
            </a:r>
            <a:r>
              <a:rPr dirty="0"/>
              <a:t> neck, temporal MHSA, local-only, </a:t>
            </a:r>
            <a:r>
              <a:rPr dirty="0" err="1"/>
              <a:t>cộng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, Hybrid </a:t>
            </a:r>
            <a:r>
              <a:rPr dirty="0" err="1"/>
              <a:t>có</a:t>
            </a:r>
            <a:r>
              <a:rPr dirty="0"/>
              <a:t> gate, single-scale so </a:t>
            </a:r>
            <a:r>
              <a:rPr dirty="0" err="1"/>
              <a:t>với</a:t>
            </a:r>
            <a:r>
              <a:rPr dirty="0"/>
              <a:t> multi-scale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loss.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thứ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bổ</a:t>
            </a:r>
            <a:r>
              <a:rPr dirty="0"/>
              <a:t> sung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khả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đổi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sô</a:t>
            </a:r>
            <a:r>
              <a:rPr lang="en-US" dirty="0"/>
              <a:t>́ </a:t>
            </a:r>
            <a:r>
              <a:rPr lang="en-US" dirty="0" err="1"/>
              <a:t>va</a:t>
            </a:r>
            <a:r>
              <a:rPr lang="en-US" dirty="0"/>
              <a:t>̀ </a:t>
            </a:r>
            <a:r>
              <a:rPr lang="en-US" dirty="0" err="1"/>
              <a:t>tối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dirty="0"/>
              <a:t>.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thứ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Chương</a:t>
            </a:r>
            <a:r>
              <a:rPr dirty="0"/>
              <a:t> 4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Chương</a:t>
            </a:r>
            <a:r>
              <a:rPr dirty="0"/>
              <a:t> 5,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thảo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. </a:t>
            </a:r>
            <a:r>
              <a:rPr dirty="0" err="1"/>
              <a:t>Nếu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,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tiên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ablation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tâm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446C5-C898-892D-F80D-49B43117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1B747-1DA5-0284-83F4-05CED7D85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58826-42CD-841E-3686-02ADAB57A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hoạch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chia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b</a:t>
            </a:r>
            <a:r>
              <a:rPr lang="en-US" dirty="0" err="1"/>
              <a:t>a</a:t>
            </a:r>
            <a:r>
              <a:rPr dirty="0"/>
              <a:t>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ngày</a:t>
            </a:r>
            <a:r>
              <a:rPr dirty="0"/>
              <a:t> 2</a:t>
            </a:r>
            <a:r>
              <a:rPr lang="en-US" dirty="0"/>
              <a:t>2</a:t>
            </a:r>
            <a:r>
              <a:rPr dirty="0"/>
              <a:t> </a:t>
            </a:r>
            <a:r>
              <a:rPr dirty="0" err="1"/>
              <a:t>tháng</a:t>
            </a:r>
            <a:r>
              <a:rPr dirty="0"/>
              <a:t> 7.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khóa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ablation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tiên</a:t>
            </a:r>
            <a:r>
              <a:rPr dirty="0"/>
              <a:t>: baseline </a:t>
            </a:r>
            <a:r>
              <a:rPr dirty="0" err="1"/>
              <a:t>không</a:t>
            </a:r>
            <a:r>
              <a:rPr dirty="0"/>
              <a:t> neck, temporal MHSA, local-only, </a:t>
            </a:r>
            <a:r>
              <a:rPr dirty="0" err="1"/>
              <a:t>cộng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, Hybrid </a:t>
            </a:r>
            <a:r>
              <a:rPr dirty="0" err="1"/>
              <a:t>có</a:t>
            </a:r>
            <a:r>
              <a:rPr dirty="0"/>
              <a:t> gate, single-scale so </a:t>
            </a:r>
            <a:r>
              <a:rPr dirty="0" err="1"/>
              <a:t>với</a:t>
            </a:r>
            <a:r>
              <a:rPr dirty="0"/>
              <a:t> multi-scale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loss.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thứ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bổ</a:t>
            </a:r>
            <a:r>
              <a:rPr dirty="0"/>
              <a:t> sung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khả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đổi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sô</a:t>
            </a:r>
            <a:r>
              <a:rPr lang="en-US" dirty="0"/>
              <a:t>́ </a:t>
            </a:r>
            <a:r>
              <a:rPr lang="en-US" dirty="0" err="1"/>
              <a:t>va</a:t>
            </a:r>
            <a:r>
              <a:rPr lang="en-US" dirty="0"/>
              <a:t>̀ </a:t>
            </a:r>
            <a:r>
              <a:rPr lang="en-US" dirty="0" err="1"/>
              <a:t>tối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dirty="0"/>
              <a:t>.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thứ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Chương</a:t>
            </a:r>
            <a:r>
              <a:rPr dirty="0"/>
              <a:t> 4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Chương</a:t>
            </a:r>
            <a:r>
              <a:rPr dirty="0"/>
              <a:t> 5,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thảo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. </a:t>
            </a:r>
            <a:r>
              <a:rPr dirty="0" err="1"/>
              <a:t>Nếu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,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tiên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ablation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tâm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3DC49-B5EB-8BCC-C778-413456786AD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1981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ình chữ nhật 36">
            <a:extLst>
              <a:ext uri="{FF2B5EF4-FFF2-40B4-BE49-F238E27FC236}">
                <a16:creationId xmlns:a16="http://schemas.microsoft.com/office/drawing/2014/main" id="{11A6217D-3BFE-8194-374C-B67BE2EE51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 0" descr="/home/claude/work/icons/shield_2A3A6E.png">
            <a:extLst>
              <a:ext uri="{FF2B5EF4-FFF2-40B4-BE49-F238E27FC236}">
                <a16:creationId xmlns:a16="http://schemas.microsoft.com/office/drawing/2014/main" id="{ECE39605-C7E1-8FD4-B2A9-2D69E3D36F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595360" y="1554480"/>
            <a:ext cx="4206240" cy="420624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F2EE1FA5-1E91-13DE-1548-EF81290125BE}"/>
              </a:ext>
            </a:extLst>
          </p:cNvPr>
          <p:cNvSpPr/>
          <p:nvPr/>
        </p:nvSpPr>
        <p:spPr>
          <a:xfrm>
            <a:off x="640080" y="685800"/>
            <a:ext cx="731520" cy="731520"/>
          </a:xfrm>
          <a:prstGeom prst="ellipse">
            <a:avLst/>
          </a:prstGeom>
          <a:solidFill>
            <a:srgbClr val="F2A1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/home/claude/work/icons/video_FFFFFF.png">
            <a:extLst>
              <a:ext uri="{FF2B5EF4-FFF2-40B4-BE49-F238E27FC236}">
                <a16:creationId xmlns:a16="http://schemas.microsoft.com/office/drawing/2014/main" id="{453EBC65-5538-7499-9426-12AE2FE02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883310"/>
            <a:ext cx="336499" cy="336499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B81642E0-74FB-FD43-3AAE-7F0DD622C6A2}"/>
              </a:ext>
            </a:extLst>
          </p:cNvPr>
          <p:cNvSpPr/>
          <p:nvPr/>
        </p:nvSpPr>
        <p:spPr>
          <a:xfrm>
            <a:off x="658368" y="1691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LUẬN VĂN  ·  THỊ GIÁC MÁY TÍNH</a:t>
            </a:r>
            <a:endParaRPr lang="en-US" sz="13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F2B8ECD2-6534-CCDF-11CE-4FB71B09E27E}"/>
              </a:ext>
            </a:extLst>
          </p:cNvPr>
          <p:cNvSpPr/>
          <p:nvPr/>
        </p:nvSpPr>
        <p:spPr>
          <a:xfrm>
            <a:off x="621792" y="210312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hiện &amp; cảnh báo hành vi không được phép trong phân xưởng nhà máy</a:t>
            </a:r>
            <a:endParaRPr lang="en-US" sz="350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22DF42EA-1E5F-DCF0-8B1C-C8CE3C998CCE}"/>
              </a:ext>
            </a:extLst>
          </p:cNvPr>
          <p:cNvSpPr/>
          <p:nvPr/>
        </p:nvSpPr>
        <p:spPr>
          <a:xfrm>
            <a:off x="658368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theo thời gian thực trên video camera  —  phương </a:t>
            </a: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Hybrid </a:t>
            </a: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FGTN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‑Mamba</a:t>
            </a: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2AC43EA1-0789-59E9-7591-1806EC57B7EF}"/>
              </a:ext>
            </a:extLst>
          </p:cNvPr>
          <p:cNvSpPr/>
          <p:nvPr/>
        </p:nvSpPr>
        <p:spPr>
          <a:xfrm>
            <a:off x="658368" y="4617720"/>
            <a:ext cx="1987906" cy="475488"/>
          </a:xfrm>
          <a:prstGeom prst="roundRect">
            <a:avLst>
              <a:gd name="adj" fmla="val 50000"/>
            </a:avLst>
          </a:prstGeom>
          <a:solidFill>
            <a:srgbClr val="2A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4339D37D-D436-4088-AA94-9D3C41271598}"/>
              </a:ext>
            </a:extLst>
          </p:cNvPr>
          <p:cNvSpPr/>
          <p:nvPr/>
        </p:nvSpPr>
        <p:spPr>
          <a:xfrm>
            <a:off x="658368" y="4617720"/>
            <a:ext cx="19879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hành vi mục tiêu</a:t>
            </a:r>
            <a:endParaRPr lang="en-US" sz="1250" dirty="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ABB2644B-BEE6-9FA2-DB76-769F2FF769B5}"/>
              </a:ext>
            </a:extLst>
          </p:cNvPr>
          <p:cNvSpPr/>
          <p:nvPr/>
        </p:nvSpPr>
        <p:spPr>
          <a:xfrm>
            <a:off x="2902306" y="4617720"/>
            <a:ext cx="2923337" cy="475488"/>
          </a:xfrm>
          <a:prstGeom prst="roundRect">
            <a:avLst>
              <a:gd name="adj" fmla="val 50000"/>
            </a:avLst>
          </a:prstGeom>
          <a:solidFill>
            <a:srgbClr val="2A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433C8533-6D08-3D56-0843-51251E3C07B0}"/>
              </a:ext>
            </a:extLst>
          </p:cNvPr>
          <p:cNvSpPr/>
          <p:nvPr/>
        </p:nvSpPr>
        <p:spPr>
          <a:xfrm>
            <a:off x="2902306" y="4617720"/>
            <a:ext cx="292333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89,83% mAP trên dữ liệu riêng</a:t>
            </a:r>
            <a:endParaRPr lang="en-US" sz="1250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A45BE91D-02EF-D36B-08E8-21E00AA6A15D}"/>
              </a:ext>
            </a:extLst>
          </p:cNvPr>
          <p:cNvSpPr/>
          <p:nvPr/>
        </p:nvSpPr>
        <p:spPr>
          <a:xfrm>
            <a:off x="6081674" y="4617720"/>
            <a:ext cx="3008376" cy="475488"/>
          </a:xfrm>
          <a:prstGeom prst="roundRect">
            <a:avLst>
              <a:gd name="adj" fmla="val 50000"/>
            </a:avLst>
          </a:prstGeom>
          <a:solidFill>
            <a:srgbClr val="2A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5EB6B6F4-4973-192E-8E36-0BCBFD3B2CC2}"/>
              </a:ext>
            </a:extLst>
          </p:cNvPr>
          <p:cNvSpPr/>
          <p:nvPr/>
        </p:nvSpPr>
        <p:spPr>
          <a:xfrm>
            <a:off x="6081674" y="4617720"/>
            <a:ext cx="3008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trên 20 khung hình/giây</a:t>
            </a:r>
            <a:endParaRPr lang="en-US" sz="125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4915A60E-0A90-A1D5-DC1E-16A932AE9343}"/>
              </a:ext>
            </a:extLst>
          </p:cNvPr>
          <p:cNvSpPr/>
          <p:nvPr/>
        </p:nvSpPr>
        <p:spPr>
          <a:xfrm>
            <a:off x="65836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trình bày: Lai Thanh Tú   ·   Người hướng dẫn: TS. Lê </a:t>
            </a:r>
            <a:r>
              <a:rPr lang="en-US" sz="1200" dirty="0" err="1">
                <a:solidFill>
                  <a:srgbClr val="9D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Đức</a:t>
            </a:r>
            <a:r>
              <a:rPr lang="en-US" sz="1200" dirty="0">
                <a:solidFill>
                  <a:srgbClr val="9D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D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Trọng</a:t>
            </a:r>
            <a:r>
              <a:rPr lang="en-US" sz="1200" dirty="0">
                <a:solidFill>
                  <a:srgbClr val="9D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08-10-2026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52731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">
            <a:extLst>
              <a:ext uri="{FF2B5EF4-FFF2-40B4-BE49-F238E27FC236}">
                <a16:creationId xmlns:a16="http://schemas.microsoft.com/office/drawing/2014/main" id="{7DCA11FB-FBB7-4BC8-9441-0F29DCE9F0CD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523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 · BÀI TOÁN &amp; ĐỘNG LỰC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712D6B0-08F5-4B66-B28F-09DA0FADB54E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Bài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toán</a:t>
            </a:r>
            <a:endParaRPr sz="31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9" name="header-rule"/>
          <p:cNvCxnSpPr/>
          <p:nvPr/>
        </p:nvCxnSpPr>
        <p:spPr>
          <a:xfrm>
            <a:off x="495300" y="1190625"/>
            <a:ext cx="11201400" cy="9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number">
            <a:extLst>
              <a:ext uri="{FF2B5EF4-FFF2-40B4-BE49-F238E27FC236}">
                <a16:creationId xmlns:a16="http://schemas.microsoft.com/office/drawing/2014/main" id="{A8E1D62A-3F80-46F7-988A-B8A392E9ADB2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research-question-text">
            <a:extLst>
              <a:ext uri="{FF2B5EF4-FFF2-40B4-BE49-F238E27FC236}">
                <a16:creationId xmlns:a16="http://schemas.microsoft.com/office/drawing/2014/main" id="{539A1BA6-6056-4433-A3D7-7E28823F5157}"/>
              </a:ext>
            </a:extLst>
          </p:cNvPr>
          <p:cNvSpPr>
            <a:spLocks noGrp="1"/>
          </p:cNvSpPr>
          <p:nvPr/>
        </p:nvSpPr>
        <p:spPr>
          <a:xfrm>
            <a:off x="495300" y="1452214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vi-VN" sz="2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Giám sát thủ công khó mở rộng khi số </a:t>
            </a:r>
            <a:r>
              <a:rPr lang="vi-VN" sz="24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camera</a:t>
            </a:r>
            <a:r>
              <a:rPr lang="vi-VN" sz="2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t</a:t>
            </a:r>
            <a:r>
              <a:rPr lang="en-US" sz="2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ă</a:t>
            </a:r>
            <a:r>
              <a:rPr lang="vi-VN" sz="24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ng</a:t>
            </a:r>
            <a:r>
              <a:rPr lang="en-US" sz="2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  <a:r>
              <a:rPr lang="vi-VN" sz="2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endParaRPr lang="en-US" sz="24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Ả</a:t>
            </a:r>
            <a:r>
              <a:rPr lang="vi-VN" sz="24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nh</a:t>
            </a:r>
            <a:r>
              <a:rPr lang="vi-VN" sz="2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tĩnh hoặc nhãn toàn </a:t>
            </a:r>
            <a:r>
              <a:rPr lang="vi-VN" sz="24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clip</a:t>
            </a:r>
            <a:r>
              <a:rPr lang="vi-VN" sz="2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không trả lời được “ai đang làm gì”.</a:t>
            </a:r>
          </a:p>
        </p:txBody>
      </p:sp>
      <p:sp>
        <p:nvSpPr>
          <p:cNvPr id="18" name="motivation-panel">
            <a:extLst>
              <a:ext uri="{FF2B5EF4-FFF2-40B4-BE49-F238E27FC236}">
                <a16:creationId xmlns:a16="http://schemas.microsoft.com/office/drawing/2014/main" id="{FEB608DF-9D25-466D-A77D-182E50FAFE64}"/>
              </a:ext>
            </a:extLst>
          </p:cNvPr>
          <p:cNvSpPr>
            <a:spLocks noGrp="1"/>
          </p:cNvSpPr>
          <p:nvPr/>
        </p:nvSpPr>
        <p:spPr>
          <a:xfrm>
            <a:off x="7898780" y="2419857"/>
            <a:ext cx="4076700" cy="3543300"/>
          </a:xfrm>
          <a:prstGeom prst="rect">
            <a:avLst/>
          </a:prstGeom>
          <a:solidFill>
            <a:srgbClr val="EAF5FB"/>
          </a:solidFill>
          <a:ln w="9525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motivation-title">
            <a:extLst>
              <a:ext uri="{FF2B5EF4-FFF2-40B4-BE49-F238E27FC236}">
                <a16:creationId xmlns:a16="http://schemas.microsoft.com/office/drawing/2014/main" id="{D3B6C151-0DDF-470E-B1EA-251CC5337E34}"/>
              </a:ext>
            </a:extLst>
          </p:cNvPr>
          <p:cNvSpPr>
            <a:spLocks noGrp="1"/>
          </p:cNvSpPr>
          <p:nvPr/>
        </p:nvSpPr>
        <p:spPr>
          <a:xfrm>
            <a:off x="8222630" y="2743707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Hai thang thời gian đối lập</a:t>
            </a:r>
          </a:p>
        </p:txBody>
      </p:sp>
      <p:sp>
        <p:nvSpPr>
          <p:cNvPr id="21" name="long-label">
            <a:extLst>
              <a:ext uri="{FF2B5EF4-FFF2-40B4-BE49-F238E27FC236}">
                <a16:creationId xmlns:a16="http://schemas.microsoft.com/office/drawing/2014/main" id="{BD6AB601-AFAE-4DCA-A303-CB1B635250AA}"/>
              </a:ext>
            </a:extLst>
          </p:cNvPr>
          <p:cNvSpPr>
            <a:spLocks noGrp="1"/>
          </p:cNvSpPr>
          <p:nvPr/>
        </p:nvSpPr>
        <p:spPr>
          <a:xfrm>
            <a:off x="8222630" y="3467607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98F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8F8A"/>
                </a:solidFill>
                <a:latin typeface="Arial"/>
                <a:ea typeface="Arial"/>
                <a:cs typeface="Arial"/>
              </a:rPr>
              <a:t>DÀI HẠN</a:t>
            </a:r>
          </a:p>
        </p:txBody>
      </p:sp>
      <p:sp>
        <p:nvSpPr>
          <p:cNvPr id="22" name="long-classes">
            <a:extLst>
              <a:ext uri="{FF2B5EF4-FFF2-40B4-BE49-F238E27FC236}">
                <a16:creationId xmlns:a16="http://schemas.microsoft.com/office/drawing/2014/main" id="{0E23C1B1-6B52-4891-A145-D9664663AAF5}"/>
              </a:ext>
            </a:extLst>
          </p:cNvPr>
          <p:cNvSpPr>
            <a:spLocks noGrp="1"/>
          </p:cNvSpPr>
          <p:nvPr/>
        </p:nvSpPr>
        <p:spPr>
          <a:xfrm>
            <a:off x="8222630" y="3772407"/>
            <a:ext cx="285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sleep_on_table</a:t>
            </a:r>
            <a:endParaRPr sz="18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feet_on_table</a:t>
            </a:r>
            <a:endParaRPr sz="18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3" name="motivation-rule"/>
          <p:cNvCxnSpPr>
            <a:cxnSpLocks/>
          </p:cNvCxnSpPr>
          <p:nvPr/>
        </p:nvCxnSpPr>
        <p:spPr>
          <a:xfrm>
            <a:off x="8222630" y="4629657"/>
            <a:ext cx="3105150" cy="9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4" name="short-label">
            <a:extLst>
              <a:ext uri="{FF2B5EF4-FFF2-40B4-BE49-F238E27FC236}">
                <a16:creationId xmlns:a16="http://schemas.microsoft.com/office/drawing/2014/main" id="{DDA161B6-B8FD-45F0-991B-B45C24210824}"/>
              </a:ext>
            </a:extLst>
          </p:cNvPr>
          <p:cNvSpPr>
            <a:spLocks noGrp="1"/>
          </p:cNvSpPr>
          <p:nvPr/>
        </p:nvSpPr>
        <p:spPr>
          <a:xfrm>
            <a:off x="8222630" y="4877307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C943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343"/>
                </a:solidFill>
                <a:latin typeface="Arial"/>
                <a:ea typeface="Arial"/>
                <a:cs typeface="Arial"/>
              </a:rPr>
              <a:t>NGẮN HẠN</a:t>
            </a:r>
          </a:p>
        </p:txBody>
      </p:sp>
      <p:sp>
        <p:nvSpPr>
          <p:cNvPr id="25" name="short-classes">
            <a:extLst>
              <a:ext uri="{FF2B5EF4-FFF2-40B4-BE49-F238E27FC236}">
                <a16:creationId xmlns:a16="http://schemas.microsoft.com/office/drawing/2014/main" id="{3F96AB86-ECED-4D7C-82E4-9936BFEAE327}"/>
              </a:ext>
            </a:extLst>
          </p:cNvPr>
          <p:cNvSpPr>
            <a:spLocks noGrp="1"/>
          </p:cNvSpPr>
          <p:nvPr/>
        </p:nvSpPr>
        <p:spPr>
          <a:xfrm>
            <a:off x="8222630" y="5182107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use_mobilephone</a:t>
            </a:r>
          </a:p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dangerous_action</a:t>
            </a:r>
          </a:p>
        </p:txBody>
      </p:sp>
      <p:pic>
        <p:nvPicPr>
          <p:cNvPr id="26" name="Picture 2" descr="Hình 2.1. Từ các họ baseline đến hạn chế tổng thể và bốn thành phần khắc phục">
            <a:extLst>
              <a:ext uri="{FF2B5EF4-FFF2-40B4-BE49-F238E27FC236}">
                <a16:creationId xmlns:a16="http://schemas.microsoft.com/office/drawing/2014/main" id="{C293C177-568D-807A-02E7-9DD1DC885C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50" b="8645"/>
          <a:stretch>
            <a:fillRect/>
          </a:stretch>
        </p:blipFill>
        <p:spPr>
          <a:xfrm>
            <a:off x="308556" y="2436755"/>
            <a:ext cx="7484146" cy="35429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153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">
            <a:extLst>
              <a:ext uri="{FF2B5EF4-FFF2-40B4-BE49-F238E27FC236}">
                <a16:creationId xmlns:a16="http://schemas.microsoft.com/office/drawing/2014/main" id="{B5A688BC-1F33-4694-9262-4DF875F82DFE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523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 · MÔ HÌNH ĐỀ XUẤT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0AEED44-02B1-42BE-A3FD-EE44D0877964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Mô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hình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xử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lý</a:t>
            </a:r>
            <a:endParaRPr sz="31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header-rule"/>
          <p:cNvCxnSpPr/>
          <p:nvPr/>
        </p:nvCxnSpPr>
        <p:spPr>
          <a:xfrm>
            <a:off x="495300" y="1190625"/>
            <a:ext cx="11201400" cy="9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number">
            <a:extLst>
              <a:ext uri="{FF2B5EF4-FFF2-40B4-BE49-F238E27FC236}">
                <a16:creationId xmlns:a16="http://schemas.microsoft.com/office/drawing/2014/main" id="{9FF70AFB-E3D0-470B-AAA8-DF783F5C3F4B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architecture-summary">
            <a:extLst>
              <a:ext uri="{FF2B5EF4-FFF2-40B4-BE49-F238E27FC236}">
                <a16:creationId xmlns:a16="http://schemas.microsoft.com/office/drawing/2014/main" id="{29399D0E-B602-42DF-AE72-2093EAF62B0D}"/>
              </a:ext>
            </a:extLst>
          </p:cNvPr>
          <p:cNvSpPr>
            <a:spLocks noGrp="1"/>
          </p:cNvSpPr>
          <p:nvPr/>
        </p:nvSpPr>
        <p:spPr>
          <a:xfrm>
            <a:off x="1238250" y="57912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Video Swin-T → Hybrid </a:t>
            </a:r>
            <a:r>
              <a:rPr sz="1575" b="1" dirty="0" err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FGTN</a:t>
            </a:r>
            <a:r>
              <a:rPr sz="1575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-Mamba stage 2/3 → Multi-scale </a:t>
            </a:r>
            <a:r>
              <a:rPr sz="1575" b="1" dirty="0" err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RoI</a:t>
            </a:r>
            <a:r>
              <a:rPr sz="1575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 → </a:t>
            </a:r>
            <a:r>
              <a:rPr sz="1575" b="1" dirty="0" err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ACRN</a:t>
            </a:r>
            <a:r>
              <a:rPr sz="1575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 → Head sigmoid</a:t>
            </a:r>
          </a:p>
        </p:txBody>
      </p:sp>
      <p:pic>
        <p:nvPicPr>
          <p:cNvPr id="7" name="Picture">
            <a:extLst>
              <a:ext uri="{FF2B5EF4-FFF2-40B4-BE49-F238E27FC236}">
                <a16:creationId xmlns:a16="http://schemas.microsoft.com/office/drawing/2014/main" id="{16200D2F-3594-6EC4-5A72-460AA5ABEC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587771" y="1303474"/>
            <a:ext cx="9016458" cy="425105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0095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">
            <a:extLst>
              <a:ext uri="{FF2B5EF4-FFF2-40B4-BE49-F238E27FC236}">
                <a16:creationId xmlns:a16="http://schemas.microsoft.com/office/drawing/2014/main" id="{FA3D7AF8-BF92-4270-BDEA-6F74C5995494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523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 · ĐÓNG GÓP KỸ THUẬT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C73BDAF-580C-4D5E-B2E3-EB1F0D1C8A3A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11201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Đóng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góp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ky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̃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thuật</a:t>
            </a:r>
            <a:endParaRPr sz="31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" name="header-rule"/>
          <p:cNvCxnSpPr/>
          <p:nvPr/>
        </p:nvCxnSpPr>
        <p:spPr>
          <a:xfrm>
            <a:off x="495300" y="1190625"/>
            <a:ext cx="11201400" cy="9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number">
            <a:extLst>
              <a:ext uri="{FF2B5EF4-FFF2-40B4-BE49-F238E27FC236}">
                <a16:creationId xmlns:a16="http://schemas.microsoft.com/office/drawing/2014/main" id="{9F0BBD6B-37C8-4980-BB39-599669332A5E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contribution-bullets">
            <a:extLst>
              <a:ext uri="{FF2B5EF4-FFF2-40B4-BE49-F238E27FC236}">
                <a16:creationId xmlns:a16="http://schemas.microsoft.com/office/drawing/2014/main" id="{30C94F36-8BBE-411E-A21A-4627C6F30F24}"/>
              </a:ext>
            </a:extLst>
          </p:cNvPr>
          <p:cNvSpPr>
            <a:spLocks noGrp="1"/>
          </p:cNvSpPr>
          <p:nvPr/>
        </p:nvSpPr>
        <p:spPr>
          <a:xfrm>
            <a:off x="495298" y="1847850"/>
            <a:ext cx="6228887" cy="45718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19050" bIns="0" anchor="t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Hybrid </a:t>
            </a:r>
            <a:r>
              <a:rPr lang="en-US" b="1" dirty="0" err="1"/>
              <a:t>FGTN</a:t>
            </a:r>
            <a:r>
              <a:rPr lang="en-US" b="1" dirty="0"/>
              <a:t>-Mamba </a:t>
            </a:r>
            <a:r>
              <a:rPr lang="en-US" b="1" dirty="0" err="1"/>
              <a:t>hai</a:t>
            </a:r>
            <a:r>
              <a:rPr lang="en-US" b="1" dirty="0"/>
              <a:t> </a:t>
            </a:r>
            <a:r>
              <a:rPr lang="en-US" b="1" dirty="0" err="1"/>
              <a:t>nhánh</a:t>
            </a:r>
            <a:r>
              <a:rPr lang="en-US" dirty="0"/>
              <a:t>: </a:t>
            </a:r>
          </a:p>
          <a:p>
            <a:pPr marL="357188" lvl="1" indent="-179388">
              <a:buFont typeface="Arial" panose="020B0604020202020204" pitchFamily="34" charset="0"/>
              <a:buChar char="•"/>
            </a:pPr>
            <a:r>
              <a:rPr lang="en-US" dirty="0"/>
              <a:t>Bidirectional selective SSM</a:t>
            </a:r>
          </a:p>
          <a:p>
            <a:pPr marL="357188" lvl="1" indent="-179388">
              <a:buFont typeface="Arial" panose="020B0604020202020204" pitchFamily="34" charset="0"/>
              <a:buChar char="•"/>
            </a:pPr>
            <a:r>
              <a:rPr lang="en-US" dirty="0"/>
              <a:t>Windowed temporal attention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Sigmoid gate</a:t>
            </a:r>
            <a:r>
              <a:rPr lang="en-US" dirty="0"/>
              <a:t> auto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Xư</a:t>
            </a:r>
            <a:r>
              <a:rPr lang="en-US" dirty="0"/>
              <a:t>̉ </a:t>
            </a:r>
            <a:r>
              <a:rPr lang="en-US" dirty="0" err="1"/>
              <a:t>ly</a:t>
            </a:r>
            <a:r>
              <a:rPr lang="en-US" dirty="0"/>
              <a:t>́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stage 2 </a:t>
            </a:r>
            <a:r>
              <a:rPr lang="en-US" dirty="0" err="1"/>
              <a:t>và</a:t>
            </a:r>
            <a:r>
              <a:rPr lang="en-US" dirty="0"/>
              <a:t> stage 3.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Multi-scale </a:t>
            </a:r>
            <a:r>
              <a:rPr lang="en-US" dirty="0" err="1"/>
              <a:t>RoI</a:t>
            </a:r>
            <a:r>
              <a:rPr lang="en-US" dirty="0"/>
              <a:t>: </a:t>
            </a:r>
          </a:p>
          <a:p>
            <a:pPr marL="357188" lvl="1" indent="-179388">
              <a:buFont typeface="Arial" panose="020B0604020202020204" pitchFamily="34" charset="0"/>
              <a:buChar char="•"/>
            </a:pPr>
            <a:r>
              <a:rPr lang="en-US" dirty="0"/>
              <a:t>Stage </a:t>
            </a:r>
            <a:r>
              <a:rPr lang="en-US" dirty="0" err="1"/>
              <a:t>2:Chi</a:t>
            </a:r>
            <a:r>
              <a:rPr lang="en-US" dirty="0"/>
              <a:t>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,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. </a:t>
            </a:r>
          </a:p>
          <a:p>
            <a:pPr marL="357188" lvl="1" indent="-179388">
              <a:buFont typeface="Arial" panose="020B0604020202020204" pitchFamily="34" charset="0"/>
              <a:buChar char="•"/>
            </a:pPr>
            <a:r>
              <a:rPr lang="en-US" dirty="0"/>
              <a:t>Stage 3: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ACRN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pipeline </a:t>
            </a:r>
            <a:r>
              <a:rPr lang="en-US" dirty="0" err="1"/>
              <a:t>STAD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:</a:t>
            </a:r>
          </a:p>
        </p:txBody>
      </p:sp>
      <p:pic>
        <p:nvPicPr>
          <p:cNvPr id="22" name="Hình ảnh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90008" y="1908577"/>
            <a:ext cx="5486400" cy="3251765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7CF1BAE8-844E-0874-2CBF-AED8C530445D}"/>
              </a:ext>
            </a:extLst>
          </p:cNvPr>
          <p:cNvSpPr txBox="1"/>
          <p:nvPr/>
        </p:nvSpPr>
        <p:spPr>
          <a:xfrm>
            <a:off x="1354485" y="5221069"/>
            <a:ext cx="8759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Video Swin → Hybrid </a:t>
            </a:r>
            <a:r>
              <a:rPr lang="en-US" b="1" dirty="0" err="1"/>
              <a:t>FGTN</a:t>
            </a:r>
            <a:r>
              <a:rPr lang="en-US" b="1" dirty="0"/>
              <a:t>-Mamba </a:t>
            </a:r>
            <a:r>
              <a:rPr lang="en-US" b="1" dirty="0" err="1"/>
              <a:t>đa</a:t>
            </a:r>
            <a:r>
              <a:rPr lang="en-US" b="1" dirty="0"/>
              <a:t> stage → Multi-scale </a:t>
            </a:r>
            <a:r>
              <a:rPr lang="en-US" b="1" dirty="0" err="1"/>
              <a:t>RoI</a:t>
            </a:r>
            <a:r>
              <a:rPr lang="en-US" b="1" dirty="0"/>
              <a:t> → </a:t>
            </a:r>
            <a:r>
              <a:rPr lang="en-US" b="1" dirty="0" err="1"/>
              <a:t>ACRN</a:t>
            </a:r>
            <a:r>
              <a:rPr lang="en-US" b="1" dirty="0"/>
              <a:t> → Head </a:t>
            </a:r>
            <a:r>
              <a:rPr lang="en-US" b="1" dirty="0" err="1"/>
              <a:t>đa</a:t>
            </a:r>
            <a:r>
              <a:rPr lang="en-US" b="1" dirty="0"/>
              <a:t> </a:t>
            </a:r>
            <a:r>
              <a:rPr lang="en-US" b="1" dirty="0" err="1"/>
              <a:t>nhãn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79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">
            <a:extLst>
              <a:ext uri="{FF2B5EF4-FFF2-40B4-BE49-F238E27FC236}">
                <a16:creationId xmlns:a16="http://schemas.microsoft.com/office/drawing/2014/main" id="{FBECA994-8506-4C13-99E3-CFCF8378DECE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523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· KẾT QUẢ THỰC NGHIỆM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AB1A44-7D9C-46A3-97A7-836C9769C17D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27"/>
          </a:bodyPr>
          <a:lstStyle/>
          <a:p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Kết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quả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hiện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tại</a:t>
            </a:r>
            <a:endParaRPr sz="31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" name="header-rule"/>
          <p:cNvCxnSpPr/>
          <p:nvPr/>
        </p:nvCxnSpPr>
        <p:spPr>
          <a:xfrm>
            <a:off x="495300" y="1190625"/>
            <a:ext cx="11201400" cy="9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number">
            <a:extLst>
              <a:ext uri="{FF2B5EF4-FFF2-40B4-BE49-F238E27FC236}">
                <a16:creationId xmlns:a16="http://schemas.microsoft.com/office/drawing/2014/main" id="{95ED4E0A-5ED1-4EBD-A0C5-284BD8A4C2D2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results-frame">
            <a:extLst>
              <a:ext uri="{FF2B5EF4-FFF2-40B4-BE49-F238E27FC236}">
                <a16:creationId xmlns:a16="http://schemas.microsoft.com/office/drawing/2014/main" id="{8547CAB6-97F4-4610-B56B-9A2F31C77C03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7810500" cy="4476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sults-panel">
            <a:extLst>
              <a:ext uri="{FF2B5EF4-FFF2-40B4-BE49-F238E27FC236}">
                <a16:creationId xmlns:a16="http://schemas.microsoft.com/office/drawing/2014/main" id="{980EBA94-3477-4E0A-8745-79F68BE7C4EB}"/>
              </a:ext>
            </a:extLst>
          </p:cNvPr>
          <p:cNvSpPr>
            <a:spLocks noGrp="1"/>
          </p:cNvSpPr>
          <p:nvPr/>
        </p:nvSpPr>
        <p:spPr>
          <a:xfrm>
            <a:off x="8629650" y="1428750"/>
            <a:ext cx="3067050" cy="447675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map-metric">
            <a:extLst>
              <a:ext uri="{FF2B5EF4-FFF2-40B4-BE49-F238E27FC236}">
                <a16:creationId xmlns:a16="http://schemas.microsoft.com/office/drawing/2014/main" id="{8A3C3AAE-50F4-4A7C-91EB-EB120C4D31F6}"/>
              </a:ext>
            </a:extLst>
          </p:cNvPr>
          <p:cNvSpPr>
            <a:spLocks noGrp="1"/>
          </p:cNvSpPr>
          <p:nvPr/>
        </p:nvSpPr>
        <p:spPr>
          <a:xfrm>
            <a:off x="8915400" y="1771650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lang="en-US" sz="3750" b="1" dirty="0">
                <a:solidFill>
                  <a:srgbClr val="6DCBF4"/>
                </a:solidFill>
                <a:latin typeface="Arial"/>
                <a:ea typeface="Arial"/>
                <a:cs typeface="Arial"/>
              </a:rPr>
              <a:t>8</a:t>
            </a:r>
            <a:r>
              <a:rPr sz="3750" b="1" dirty="0">
                <a:solidFill>
                  <a:srgbClr val="6DCBF4"/>
                </a:solidFill>
                <a:latin typeface="Arial"/>
                <a:ea typeface="Arial"/>
                <a:cs typeface="Arial"/>
              </a:rPr>
              <a:t>9,83%</a:t>
            </a:r>
          </a:p>
        </p:txBody>
      </p:sp>
      <p:sp>
        <p:nvSpPr>
          <p:cNvPr id="10" name="map-label">
            <a:extLst>
              <a:ext uri="{FF2B5EF4-FFF2-40B4-BE49-F238E27FC236}">
                <a16:creationId xmlns:a16="http://schemas.microsoft.com/office/drawing/2014/main" id="{E1509F10-BBFC-43E1-8A93-09D15918AD00}"/>
              </a:ext>
            </a:extLst>
          </p:cNvPr>
          <p:cNvSpPr>
            <a:spLocks noGrp="1"/>
          </p:cNvSpPr>
          <p:nvPr/>
        </p:nvSpPr>
        <p:spPr>
          <a:xfrm>
            <a:off x="8934450" y="24479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D8DE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EE8"/>
                </a:solidFill>
                <a:latin typeface="Arial"/>
                <a:ea typeface="Arial"/>
                <a:cs typeface="Arial"/>
              </a:rPr>
              <a:t>mAP trên dữ liệu riêng</a:t>
            </a:r>
          </a:p>
        </p:txBody>
      </p:sp>
      <p:sp>
        <p:nvSpPr>
          <p:cNvPr id="11" name="pr-metric">
            <a:extLst>
              <a:ext uri="{FF2B5EF4-FFF2-40B4-BE49-F238E27FC236}">
                <a16:creationId xmlns:a16="http://schemas.microsoft.com/office/drawing/2014/main" id="{B9CCA4F5-182E-4638-AEF6-12FE5A357952}"/>
              </a:ext>
            </a:extLst>
          </p:cNvPr>
          <p:cNvSpPr>
            <a:spLocks noGrp="1"/>
          </p:cNvSpPr>
          <p:nvPr/>
        </p:nvSpPr>
        <p:spPr>
          <a:xfrm>
            <a:off x="8915400" y="304800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81,82%</a:t>
            </a:r>
          </a:p>
        </p:txBody>
      </p:sp>
      <p:sp>
        <p:nvSpPr>
          <p:cNvPr id="12" name="pr-label">
            <a:extLst>
              <a:ext uri="{FF2B5EF4-FFF2-40B4-BE49-F238E27FC236}">
                <a16:creationId xmlns:a16="http://schemas.microsoft.com/office/drawing/2014/main" id="{C42F8EE2-3D22-4A02-B201-072E62645CFA}"/>
              </a:ext>
            </a:extLst>
          </p:cNvPr>
          <p:cNvSpPr>
            <a:spLocks noGrp="1"/>
          </p:cNvSpPr>
          <p:nvPr/>
        </p:nvSpPr>
        <p:spPr>
          <a:xfrm>
            <a:off x="8934450" y="36099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D8DE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8DEE8"/>
                </a:solidFill>
                <a:latin typeface="Arial"/>
                <a:ea typeface="Arial"/>
                <a:cs typeface="Arial"/>
              </a:rPr>
              <a:t>Precision = Recall @ 0,5</a:t>
            </a:r>
          </a:p>
        </p:txBody>
      </p:sp>
      <p:sp>
        <p:nvSpPr>
          <p:cNvPr id="13" name="resource-metric">
            <a:extLst>
              <a:ext uri="{FF2B5EF4-FFF2-40B4-BE49-F238E27FC236}">
                <a16:creationId xmlns:a16="http://schemas.microsoft.com/office/drawing/2014/main" id="{60069A6B-69C4-4C98-AB48-F243AC8B44CD}"/>
              </a:ext>
            </a:extLst>
          </p:cNvPr>
          <p:cNvSpPr>
            <a:spLocks noGrp="1"/>
          </p:cNvSpPr>
          <p:nvPr/>
        </p:nvSpPr>
        <p:spPr>
          <a:xfrm>
            <a:off x="8915400" y="4238625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&gt;20 FPS · ~10 GB</a:t>
            </a:r>
          </a:p>
        </p:txBody>
      </p:sp>
      <p:sp>
        <p:nvSpPr>
          <p:cNvPr id="14" name="ava-metric">
            <a:extLst>
              <a:ext uri="{FF2B5EF4-FFF2-40B4-BE49-F238E27FC236}">
                <a16:creationId xmlns:a16="http://schemas.microsoft.com/office/drawing/2014/main" id="{BDF3E4AB-B72C-44AD-8B09-E768DB90EDB4}"/>
              </a:ext>
            </a:extLst>
          </p:cNvPr>
          <p:cNvSpPr>
            <a:spLocks noGrp="1"/>
          </p:cNvSpPr>
          <p:nvPr/>
        </p:nvSpPr>
        <p:spPr>
          <a:xfrm>
            <a:off x="8934450" y="4886325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AVA v2.2 ghi nhận: 39,1 mAP</a:t>
            </a:r>
          </a:p>
        </p:txBody>
      </p:sp>
      <p:sp>
        <p:nvSpPr>
          <p:cNvPr id="15" name="ablation-status">
            <a:extLst>
              <a:ext uri="{FF2B5EF4-FFF2-40B4-BE49-F238E27FC236}">
                <a16:creationId xmlns:a16="http://schemas.microsoft.com/office/drawing/2014/main" id="{DB5C9631-E872-4408-AA9D-9BCA6A4212C7}"/>
              </a:ext>
            </a:extLst>
          </p:cNvPr>
          <p:cNvSpPr>
            <a:spLocks noGrp="1"/>
          </p:cNvSpPr>
          <p:nvPr/>
        </p:nvSpPr>
        <p:spPr>
          <a:xfrm>
            <a:off x="8934450" y="54673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F3C1C1"/>
                </a:solidFill>
                <a:latin typeface="Arial"/>
                <a:ea typeface="Arial"/>
                <a:cs typeface="Arial"/>
              </a:defRPr>
            </a:pPr>
            <a:r>
              <a:rPr sz="975" b="0" dirty="0" err="1">
                <a:solidFill>
                  <a:srgbClr val="F3C1C1"/>
                </a:solidFill>
                <a:latin typeface="Arial"/>
                <a:ea typeface="Arial"/>
                <a:cs typeface="Arial"/>
              </a:rPr>
              <a:t>Đã</a:t>
            </a:r>
            <a:r>
              <a:rPr sz="975" b="0" dirty="0">
                <a:solidFill>
                  <a:srgbClr val="F3C1C1"/>
                </a:solidFill>
                <a:latin typeface="Arial"/>
                <a:ea typeface="Arial"/>
                <a:cs typeface="Arial"/>
              </a:rPr>
              <a:t> </a:t>
            </a:r>
            <a:r>
              <a:rPr sz="975" b="0" dirty="0" err="1">
                <a:solidFill>
                  <a:srgbClr val="F3C1C1"/>
                </a:solidFill>
                <a:latin typeface="Arial"/>
                <a:ea typeface="Arial"/>
                <a:cs typeface="Arial"/>
              </a:rPr>
              <a:t>có</a:t>
            </a:r>
            <a:r>
              <a:rPr sz="975" b="0" dirty="0">
                <a:solidFill>
                  <a:srgbClr val="F3C1C1"/>
                </a:solidFill>
                <a:latin typeface="Arial"/>
                <a:ea typeface="Arial"/>
                <a:cs typeface="Arial"/>
              </a:rPr>
              <a:t>: ACRN +</a:t>
            </a:r>
            <a:r>
              <a:rPr lang="en-US" sz="975" b="0" dirty="0">
                <a:solidFill>
                  <a:srgbClr val="F3C1C1"/>
                </a:solidFill>
                <a:latin typeface="Arial"/>
                <a:ea typeface="Arial"/>
                <a:cs typeface="Arial"/>
              </a:rPr>
              <a:t>6</a:t>
            </a:r>
            <a:r>
              <a:rPr sz="975" b="0" dirty="0">
                <a:solidFill>
                  <a:srgbClr val="F3C1C1"/>
                </a:solidFill>
                <a:latin typeface="Arial"/>
                <a:ea typeface="Arial"/>
                <a:cs typeface="Arial"/>
              </a:rPr>
              <a:t>,23 </a:t>
            </a:r>
            <a:r>
              <a:rPr sz="975" b="0" dirty="0" err="1">
                <a:solidFill>
                  <a:srgbClr val="F3C1C1"/>
                </a:solidFill>
                <a:latin typeface="Arial"/>
                <a:ea typeface="Arial"/>
                <a:cs typeface="Arial"/>
              </a:rPr>
              <a:t>điểm</a:t>
            </a:r>
            <a:endParaRPr sz="975" b="0" dirty="0">
              <a:solidFill>
                <a:srgbClr val="F3C1C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58589389-952B-F215-C30C-A4CE89F9D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68"/>
          <a:stretch>
            <a:fillRect/>
          </a:stretch>
        </p:blipFill>
        <p:spPr>
          <a:xfrm>
            <a:off x="630174" y="1756142"/>
            <a:ext cx="7540751" cy="399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2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DCF34-63A4-B386-D9EF-33AD9EA96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">
            <a:extLst>
              <a:ext uri="{FF2B5EF4-FFF2-40B4-BE49-F238E27FC236}">
                <a16:creationId xmlns:a16="http://schemas.microsoft.com/office/drawing/2014/main" id="{29D64054-E9BA-137C-E939-84682AF8E2FB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523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· KẾT QUẢ THỰC NGHIỆM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96CE2AF-0E00-4F1D-DB3F-118D29E1CB31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27"/>
          </a:bodyPr>
          <a:lstStyle/>
          <a:p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Kết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quả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hiện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tại</a:t>
            </a:r>
            <a:endParaRPr sz="31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" name="header-rule">
            <a:extLst>
              <a:ext uri="{FF2B5EF4-FFF2-40B4-BE49-F238E27FC236}">
                <a16:creationId xmlns:a16="http://schemas.microsoft.com/office/drawing/2014/main" id="{CFC3056A-A5AF-A47F-39EB-27AF1E8D3E07}"/>
              </a:ext>
            </a:extLst>
          </p:cNvPr>
          <p:cNvCxnSpPr/>
          <p:nvPr/>
        </p:nvCxnSpPr>
        <p:spPr>
          <a:xfrm>
            <a:off x="495300" y="1190625"/>
            <a:ext cx="11201400" cy="9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number">
            <a:extLst>
              <a:ext uri="{FF2B5EF4-FFF2-40B4-BE49-F238E27FC236}">
                <a16:creationId xmlns:a16="http://schemas.microsoft.com/office/drawing/2014/main" id="{70466679-1D41-C2B1-D711-B8182D5B4DF6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abl-bg-0">
            <a:extLst>
              <a:ext uri="{FF2B5EF4-FFF2-40B4-BE49-F238E27FC236}">
                <a16:creationId xmlns:a16="http://schemas.microsoft.com/office/drawing/2014/main" id="{1C3B7B76-28F6-F76D-F6E8-139E01A48A56}"/>
              </a:ext>
            </a:extLst>
          </p:cNvPr>
          <p:cNvSpPr/>
          <p:nvPr/>
        </p:nvSpPr>
        <p:spPr>
          <a:xfrm>
            <a:off x="495330" y="1463040"/>
            <a:ext cx="3703320" cy="7315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abl-code-bg-0">
            <a:extLst>
              <a:ext uri="{FF2B5EF4-FFF2-40B4-BE49-F238E27FC236}">
                <a16:creationId xmlns:a16="http://schemas.microsoft.com/office/drawing/2014/main" id="{7C2B3147-86AB-9B67-72B3-CE21F53D3E80}"/>
              </a:ext>
            </a:extLst>
          </p:cNvPr>
          <p:cNvSpPr/>
          <p:nvPr/>
        </p:nvSpPr>
        <p:spPr>
          <a:xfrm>
            <a:off x="495330" y="1463040"/>
            <a:ext cx="640080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abl-code-0">
            <a:extLst>
              <a:ext uri="{FF2B5EF4-FFF2-40B4-BE49-F238E27FC236}">
                <a16:creationId xmlns:a16="http://schemas.microsoft.com/office/drawing/2014/main" id="{9045E03F-A318-CE02-2D57-39D7864D4DB6}"/>
              </a:ext>
            </a:extLst>
          </p:cNvPr>
          <p:cNvSpPr txBox="1"/>
          <p:nvPr/>
        </p:nvSpPr>
        <p:spPr>
          <a:xfrm>
            <a:off x="495330" y="1463040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A0</a:t>
            </a:r>
          </a:p>
        </p:txBody>
      </p:sp>
      <p:sp>
        <p:nvSpPr>
          <p:cNvPr id="23" name="abl-cfg-0">
            <a:extLst>
              <a:ext uri="{FF2B5EF4-FFF2-40B4-BE49-F238E27FC236}">
                <a16:creationId xmlns:a16="http://schemas.microsoft.com/office/drawing/2014/main" id="{71346CF3-EAA8-8104-997A-2A032D565FD3}"/>
              </a:ext>
            </a:extLst>
          </p:cNvPr>
          <p:cNvSpPr txBox="1"/>
          <p:nvPr/>
        </p:nvSpPr>
        <p:spPr>
          <a:xfrm>
            <a:off x="1272570" y="1536192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</a:rPr>
              <a:t>Video Swin stage 3, không neck</a:t>
            </a:r>
          </a:p>
        </p:txBody>
      </p:sp>
      <p:sp>
        <p:nvSpPr>
          <p:cNvPr id="25" name="abl-status-0">
            <a:extLst>
              <a:ext uri="{FF2B5EF4-FFF2-40B4-BE49-F238E27FC236}">
                <a16:creationId xmlns:a16="http://schemas.microsoft.com/office/drawing/2014/main" id="{D572F089-A8EC-09D5-D588-CD41A8841561}"/>
              </a:ext>
            </a:extLst>
          </p:cNvPr>
          <p:cNvSpPr txBox="1"/>
          <p:nvPr/>
        </p:nvSpPr>
        <p:spPr>
          <a:xfrm>
            <a:off x="1272570" y="1865376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3D8DFF"/>
                </a:solidFill>
                <a:latin typeface="Arial"/>
              </a:rPr>
              <a:t>Baseline tối thiểu · RQ1</a:t>
            </a:r>
          </a:p>
        </p:txBody>
      </p:sp>
      <p:sp>
        <p:nvSpPr>
          <p:cNvPr id="27" name="abl-bg-1">
            <a:extLst>
              <a:ext uri="{FF2B5EF4-FFF2-40B4-BE49-F238E27FC236}">
                <a16:creationId xmlns:a16="http://schemas.microsoft.com/office/drawing/2014/main" id="{73006618-A885-DB04-7638-5C11CA80C104}"/>
              </a:ext>
            </a:extLst>
          </p:cNvPr>
          <p:cNvSpPr/>
          <p:nvPr/>
        </p:nvSpPr>
        <p:spPr>
          <a:xfrm>
            <a:off x="495330" y="2313432"/>
            <a:ext cx="3703320" cy="7315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abl-code-bg-1">
            <a:extLst>
              <a:ext uri="{FF2B5EF4-FFF2-40B4-BE49-F238E27FC236}">
                <a16:creationId xmlns:a16="http://schemas.microsoft.com/office/drawing/2014/main" id="{E22F4B9E-FA39-61E3-37AC-0AD88262B6A9}"/>
              </a:ext>
            </a:extLst>
          </p:cNvPr>
          <p:cNvSpPr/>
          <p:nvPr/>
        </p:nvSpPr>
        <p:spPr>
          <a:xfrm>
            <a:off x="495330" y="2313432"/>
            <a:ext cx="640080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abl-code-1">
            <a:extLst>
              <a:ext uri="{FF2B5EF4-FFF2-40B4-BE49-F238E27FC236}">
                <a16:creationId xmlns:a16="http://schemas.microsoft.com/office/drawing/2014/main" id="{9290E2E3-ECCC-210E-7736-FBD081351AD1}"/>
              </a:ext>
            </a:extLst>
          </p:cNvPr>
          <p:cNvSpPr txBox="1"/>
          <p:nvPr/>
        </p:nvSpPr>
        <p:spPr>
          <a:xfrm>
            <a:off x="495330" y="2313432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A1</a:t>
            </a:r>
          </a:p>
        </p:txBody>
      </p:sp>
      <p:sp>
        <p:nvSpPr>
          <p:cNvPr id="33" name="abl-cfg-1">
            <a:extLst>
              <a:ext uri="{FF2B5EF4-FFF2-40B4-BE49-F238E27FC236}">
                <a16:creationId xmlns:a16="http://schemas.microsoft.com/office/drawing/2014/main" id="{225AC1B3-7991-9E4B-5BF9-A6E2932BD41F}"/>
              </a:ext>
            </a:extLst>
          </p:cNvPr>
          <p:cNvSpPr txBox="1"/>
          <p:nvPr/>
        </p:nvSpPr>
        <p:spPr>
          <a:xfrm>
            <a:off x="1272570" y="2386584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</a:rPr>
              <a:t>A0 + temporal MHSA toàn cục</a:t>
            </a:r>
          </a:p>
        </p:txBody>
      </p:sp>
      <p:sp>
        <p:nvSpPr>
          <p:cNvPr id="35" name="abl-status-1">
            <a:extLst>
              <a:ext uri="{FF2B5EF4-FFF2-40B4-BE49-F238E27FC236}">
                <a16:creationId xmlns:a16="http://schemas.microsoft.com/office/drawing/2014/main" id="{201F71F7-5D0D-A339-E7C0-03D189068CB0}"/>
              </a:ext>
            </a:extLst>
          </p:cNvPr>
          <p:cNvSpPr txBox="1"/>
          <p:nvPr/>
        </p:nvSpPr>
        <p:spPr>
          <a:xfrm>
            <a:off x="1272570" y="271576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3D8DFF"/>
                </a:solidFill>
                <a:latin typeface="Arial"/>
              </a:rPr>
              <a:t>So toán tử cùng vị trí · RQ1</a:t>
            </a:r>
          </a:p>
        </p:txBody>
      </p:sp>
      <p:sp>
        <p:nvSpPr>
          <p:cNvPr id="37" name="abl-bg-2">
            <a:extLst>
              <a:ext uri="{FF2B5EF4-FFF2-40B4-BE49-F238E27FC236}">
                <a16:creationId xmlns:a16="http://schemas.microsoft.com/office/drawing/2014/main" id="{2AE298E0-C4F1-8B0F-6DC1-83B2972E1EA6}"/>
              </a:ext>
            </a:extLst>
          </p:cNvPr>
          <p:cNvSpPr/>
          <p:nvPr/>
        </p:nvSpPr>
        <p:spPr>
          <a:xfrm>
            <a:off x="495330" y="3163824"/>
            <a:ext cx="3703320" cy="7315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abl-code-bg-2">
            <a:extLst>
              <a:ext uri="{FF2B5EF4-FFF2-40B4-BE49-F238E27FC236}">
                <a16:creationId xmlns:a16="http://schemas.microsoft.com/office/drawing/2014/main" id="{B0198568-9709-774C-C350-F6B5BCAE789D}"/>
              </a:ext>
            </a:extLst>
          </p:cNvPr>
          <p:cNvSpPr/>
          <p:nvPr/>
        </p:nvSpPr>
        <p:spPr>
          <a:xfrm>
            <a:off x="495330" y="3163824"/>
            <a:ext cx="640080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abl-code-2">
            <a:extLst>
              <a:ext uri="{FF2B5EF4-FFF2-40B4-BE49-F238E27FC236}">
                <a16:creationId xmlns:a16="http://schemas.microsoft.com/office/drawing/2014/main" id="{4ABE50A7-5C9A-DC87-2B81-833C5981A144}"/>
              </a:ext>
            </a:extLst>
          </p:cNvPr>
          <p:cNvSpPr txBox="1"/>
          <p:nvPr/>
        </p:nvSpPr>
        <p:spPr>
          <a:xfrm>
            <a:off x="495330" y="3163824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A2</a:t>
            </a:r>
          </a:p>
        </p:txBody>
      </p:sp>
      <p:sp>
        <p:nvSpPr>
          <p:cNvPr id="43" name="abl-cfg-2">
            <a:extLst>
              <a:ext uri="{FF2B5EF4-FFF2-40B4-BE49-F238E27FC236}">
                <a16:creationId xmlns:a16="http://schemas.microsoft.com/office/drawing/2014/main" id="{0612DF58-B854-3ACA-4FCE-A2232DC07EDD}"/>
              </a:ext>
            </a:extLst>
          </p:cNvPr>
          <p:cNvSpPr txBox="1"/>
          <p:nvPr/>
        </p:nvSpPr>
        <p:spPr>
          <a:xfrm>
            <a:off x="1272570" y="3236976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</a:rPr>
              <a:t>A0 + SSM một chiều</a:t>
            </a:r>
          </a:p>
        </p:txBody>
      </p:sp>
      <p:sp>
        <p:nvSpPr>
          <p:cNvPr id="45" name="abl-status-2">
            <a:extLst>
              <a:ext uri="{FF2B5EF4-FFF2-40B4-BE49-F238E27FC236}">
                <a16:creationId xmlns:a16="http://schemas.microsoft.com/office/drawing/2014/main" id="{14532A99-1158-F0EB-FD63-0F9352D7D22F}"/>
              </a:ext>
            </a:extLst>
          </p:cNvPr>
          <p:cNvSpPr txBox="1"/>
          <p:nvPr/>
        </p:nvSpPr>
        <p:spPr>
          <a:xfrm>
            <a:off x="1272570" y="356616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3D8DFF"/>
                </a:solidFill>
                <a:latin typeface="Arial"/>
              </a:rPr>
              <a:t>Vai trò quét một chiều · RQ2</a:t>
            </a:r>
          </a:p>
        </p:txBody>
      </p:sp>
      <p:sp>
        <p:nvSpPr>
          <p:cNvPr id="47" name="abl-bg-3">
            <a:extLst>
              <a:ext uri="{FF2B5EF4-FFF2-40B4-BE49-F238E27FC236}">
                <a16:creationId xmlns:a16="http://schemas.microsoft.com/office/drawing/2014/main" id="{7EA2860F-09AA-23AC-DE69-5623A8AFC0C3}"/>
              </a:ext>
            </a:extLst>
          </p:cNvPr>
          <p:cNvSpPr/>
          <p:nvPr/>
        </p:nvSpPr>
        <p:spPr>
          <a:xfrm>
            <a:off x="495330" y="4014216"/>
            <a:ext cx="3703320" cy="7315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abl-code-bg-3">
            <a:extLst>
              <a:ext uri="{FF2B5EF4-FFF2-40B4-BE49-F238E27FC236}">
                <a16:creationId xmlns:a16="http://schemas.microsoft.com/office/drawing/2014/main" id="{A36FEFCC-CF18-0128-2537-E76903E1075A}"/>
              </a:ext>
            </a:extLst>
          </p:cNvPr>
          <p:cNvSpPr/>
          <p:nvPr/>
        </p:nvSpPr>
        <p:spPr>
          <a:xfrm>
            <a:off x="495330" y="4014216"/>
            <a:ext cx="640080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abl-code-3">
            <a:extLst>
              <a:ext uri="{FF2B5EF4-FFF2-40B4-BE49-F238E27FC236}">
                <a16:creationId xmlns:a16="http://schemas.microsoft.com/office/drawing/2014/main" id="{0E171613-3760-668C-72DD-BB33DDE17464}"/>
              </a:ext>
            </a:extLst>
          </p:cNvPr>
          <p:cNvSpPr txBox="1"/>
          <p:nvPr/>
        </p:nvSpPr>
        <p:spPr>
          <a:xfrm>
            <a:off x="495330" y="4014216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A3</a:t>
            </a:r>
          </a:p>
        </p:txBody>
      </p:sp>
      <p:sp>
        <p:nvSpPr>
          <p:cNvPr id="53" name="abl-cfg-3">
            <a:extLst>
              <a:ext uri="{FF2B5EF4-FFF2-40B4-BE49-F238E27FC236}">
                <a16:creationId xmlns:a16="http://schemas.microsoft.com/office/drawing/2014/main" id="{2B330C5D-E209-C33D-2F14-19407890EB91}"/>
              </a:ext>
            </a:extLst>
          </p:cNvPr>
          <p:cNvSpPr txBox="1"/>
          <p:nvPr/>
        </p:nvSpPr>
        <p:spPr>
          <a:xfrm>
            <a:off x="1272570" y="4087368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</a:rPr>
              <a:t>A0 + Bi-SSM</a:t>
            </a:r>
          </a:p>
        </p:txBody>
      </p:sp>
      <p:sp>
        <p:nvSpPr>
          <p:cNvPr id="55" name="abl-status-3">
            <a:extLst>
              <a:ext uri="{FF2B5EF4-FFF2-40B4-BE49-F238E27FC236}">
                <a16:creationId xmlns:a16="http://schemas.microsoft.com/office/drawing/2014/main" id="{18BA8384-1A4A-BBF6-D0E6-DFF79A55CD9F}"/>
              </a:ext>
            </a:extLst>
          </p:cNvPr>
          <p:cNvSpPr txBox="1"/>
          <p:nvPr/>
        </p:nvSpPr>
        <p:spPr>
          <a:xfrm>
            <a:off x="1272570" y="4416552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3D8DFF"/>
                </a:solidFill>
                <a:latin typeface="Arial"/>
              </a:rPr>
              <a:t>Nhánh dài hạn · RQ2</a:t>
            </a:r>
          </a:p>
        </p:txBody>
      </p:sp>
      <p:sp>
        <p:nvSpPr>
          <p:cNvPr id="57" name="abl-bg-4">
            <a:extLst>
              <a:ext uri="{FF2B5EF4-FFF2-40B4-BE49-F238E27FC236}">
                <a16:creationId xmlns:a16="http://schemas.microsoft.com/office/drawing/2014/main" id="{8BF2D438-A554-880A-E8CC-770331038C95}"/>
              </a:ext>
            </a:extLst>
          </p:cNvPr>
          <p:cNvSpPr/>
          <p:nvPr/>
        </p:nvSpPr>
        <p:spPr>
          <a:xfrm>
            <a:off x="495330" y="4864608"/>
            <a:ext cx="3703320" cy="7315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abl-code-bg-4">
            <a:extLst>
              <a:ext uri="{FF2B5EF4-FFF2-40B4-BE49-F238E27FC236}">
                <a16:creationId xmlns:a16="http://schemas.microsoft.com/office/drawing/2014/main" id="{C552C4B5-CAF3-1231-6C5E-A790C608608E}"/>
              </a:ext>
            </a:extLst>
          </p:cNvPr>
          <p:cNvSpPr/>
          <p:nvPr/>
        </p:nvSpPr>
        <p:spPr>
          <a:xfrm>
            <a:off x="495330" y="4864608"/>
            <a:ext cx="640080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abl-code-4">
            <a:extLst>
              <a:ext uri="{FF2B5EF4-FFF2-40B4-BE49-F238E27FC236}">
                <a16:creationId xmlns:a16="http://schemas.microsoft.com/office/drawing/2014/main" id="{6BC2131E-8715-760C-48CD-38069B067D0A}"/>
              </a:ext>
            </a:extLst>
          </p:cNvPr>
          <p:cNvSpPr txBox="1"/>
          <p:nvPr/>
        </p:nvSpPr>
        <p:spPr>
          <a:xfrm>
            <a:off x="495330" y="4864608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A4</a:t>
            </a:r>
          </a:p>
        </p:txBody>
      </p:sp>
      <p:sp>
        <p:nvSpPr>
          <p:cNvPr id="63" name="abl-cfg-4">
            <a:extLst>
              <a:ext uri="{FF2B5EF4-FFF2-40B4-BE49-F238E27FC236}">
                <a16:creationId xmlns:a16="http://schemas.microsoft.com/office/drawing/2014/main" id="{CCE77F35-9E2F-DBF6-4C78-D35FE671CB93}"/>
              </a:ext>
            </a:extLst>
          </p:cNvPr>
          <p:cNvSpPr txBox="1"/>
          <p:nvPr/>
        </p:nvSpPr>
        <p:spPr>
          <a:xfrm>
            <a:off x="1272570" y="4937760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</a:rPr>
              <a:t>A0 + W-MHSA cục bộ</a:t>
            </a:r>
          </a:p>
        </p:txBody>
      </p:sp>
      <p:sp>
        <p:nvSpPr>
          <p:cNvPr id="65" name="abl-status-4">
            <a:extLst>
              <a:ext uri="{FF2B5EF4-FFF2-40B4-BE49-F238E27FC236}">
                <a16:creationId xmlns:a16="http://schemas.microsoft.com/office/drawing/2014/main" id="{7B0B379A-7D87-08FE-FE8B-454CBB745A62}"/>
              </a:ext>
            </a:extLst>
          </p:cNvPr>
          <p:cNvSpPr txBox="1"/>
          <p:nvPr/>
        </p:nvSpPr>
        <p:spPr>
          <a:xfrm>
            <a:off x="1272570" y="5266944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3D8DFF"/>
                </a:solidFill>
                <a:latin typeface="Arial"/>
              </a:rPr>
              <a:t>Nhánh ngắn hạn · RQ2</a:t>
            </a:r>
          </a:p>
        </p:txBody>
      </p:sp>
      <p:sp>
        <p:nvSpPr>
          <p:cNvPr id="67" name="abl-bg-5">
            <a:extLst>
              <a:ext uri="{FF2B5EF4-FFF2-40B4-BE49-F238E27FC236}">
                <a16:creationId xmlns:a16="http://schemas.microsoft.com/office/drawing/2014/main" id="{ACE83A90-65AF-8EC8-4D0B-BAD380091AF3}"/>
              </a:ext>
            </a:extLst>
          </p:cNvPr>
          <p:cNvSpPr/>
          <p:nvPr/>
        </p:nvSpPr>
        <p:spPr>
          <a:xfrm>
            <a:off x="4381530" y="1463040"/>
            <a:ext cx="3703320" cy="7315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abl-code-bg-5">
            <a:extLst>
              <a:ext uri="{FF2B5EF4-FFF2-40B4-BE49-F238E27FC236}">
                <a16:creationId xmlns:a16="http://schemas.microsoft.com/office/drawing/2014/main" id="{35455BD3-143B-977C-3EB1-634E3057435C}"/>
              </a:ext>
            </a:extLst>
          </p:cNvPr>
          <p:cNvSpPr/>
          <p:nvPr/>
        </p:nvSpPr>
        <p:spPr>
          <a:xfrm>
            <a:off x="4381530" y="1463040"/>
            <a:ext cx="640080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abl-code-5">
            <a:extLst>
              <a:ext uri="{FF2B5EF4-FFF2-40B4-BE49-F238E27FC236}">
                <a16:creationId xmlns:a16="http://schemas.microsoft.com/office/drawing/2014/main" id="{32F0B01C-190E-37CA-20B2-10666E1A34D0}"/>
              </a:ext>
            </a:extLst>
          </p:cNvPr>
          <p:cNvSpPr txBox="1"/>
          <p:nvPr/>
        </p:nvSpPr>
        <p:spPr>
          <a:xfrm>
            <a:off x="4381530" y="1463040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A5</a:t>
            </a:r>
          </a:p>
        </p:txBody>
      </p:sp>
      <p:sp>
        <p:nvSpPr>
          <p:cNvPr id="73" name="abl-cfg-5">
            <a:extLst>
              <a:ext uri="{FF2B5EF4-FFF2-40B4-BE49-F238E27FC236}">
                <a16:creationId xmlns:a16="http://schemas.microsoft.com/office/drawing/2014/main" id="{C0C51DF3-96FC-432C-E03A-AF2E2E705880}"/>
              </a:ext>
            </a:extLst>
          </p:cNvPr>
          <p:cNvSpPr txBox="1"/>
          <p:nvPr/>
        </p:nvSpPr>
        <p:spPr>
          <a:xfrm>
            <a:off x="5158770" y="1536192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</a:rPr>
              <a:t>Bi-SSM + local, cộng trực tiếp</a:t>
            </a:r>
          </a:p>
        </p:txBody>
      </p:sp>
      <p:sp>
        <p:nvSpPr>
          <p:cNvPr id="75" name="abl-status-5">
            <a:extLst>
              <a:ext uri="{FF2B5EF4-FFF2-40B4-BE49-F238E27FC236}">
                <a16:creationId xmlns:a16="http://schemas.microsoft.com/office/drawing/2014/main" id="{A36529D3-78BD-F7F6-5914-91D4929ACA7E}"/>
              </a:ext>
            </a:extLst>
          </p:cNvPr>
          <p:cNvSpPr txBox="1"/>
          <p:nvPr/>
        </p:nvSpPr>
        <p:spPr>
          <a:xfrm>
            <a:off x="5158770" y="1865376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3D8DFF"/>
                </a:solidFill>
                <a:latin typeface="Arial"/>
              </a:rPr>
              <a:t>Không có gate · RQ2</a:t>
            </a:r>
          </a:p>
        </p:txBody>
      </p:sp>
      <p:sp>
        <p:nvSpPr>
          <p:cNvPr id="77" name="abl-bg-6">
            <a:extLst>
              <a:ext uri="{FF2B5EF4-FFF2-40B4-BE49-F238E27FC236}">
                <a16:creationId xmlns:a16="http://schemas.microsoft.com/office/drawing/2014/main" id="{2D33E80E-15AE-F9C8-7166-02203868D0A8}"/>
              </a:ext>
            </a:extLst>
          </p:cNvPr>
          <p:cNvSpPr/>
          <p:nvPr/>
        </p:nvSpPr>
        <p:spPr>
          <a:xfrm>
            <a:off x="4381530" y="2313432"/>
            <a:ext cx="3703320" cy="7315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abl-code-bg-6">
            <a:extLst>
              <a:ext uri="{FF2B5EF4-FFF2-40B4-BE49-F238E27FC236}">
                <a16:creationId xmlns:a16="http://schemas.microsoft.com/office/drawing/2014/main" id="{772A691F-3D3A-107E-7B25-CEA9D0B4D812}"/>
              </a:ext>
            </a:extLst>
          </p:cNvPr>
          <p:cNvSpPr/>
          <p:nvPr/>
        </p:nvSpPr>
        <p:spPr>
          <a:xfrm>
            <a:off x="4381530" y="2313432"/>
            <a:ext cx="640080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abl-code-6">
            <a:extLst>
              <a:ext uri="{FF2B5EF4-FFF2-40B4-BE49-F238E27FC236}">
                <a16:creationId xmlns:a16="http://schemas.microsoft.com/office/drawing/2014/main" id="{89B26C1A-1F5B-9B4E-ACF2-2B3523BDD9B0}"/>
              </a:ext>
            </a:extLst>
          </p:cNvPr>
          <p:cNvSpPr txBox="1"/>
          <p:nvPr/>
        </p:nvSpPr>
        <p:spPr>
          <a:xfrm>
            <a:off x="4381530" y="2313432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A6</a:t>
            </a:r>
          </a:p>
        </p:txBody>
      </p:sp>
      <p:sp>
        <p:nvSpPr>
          <p:cNvPr id="83" name="abl-cfg-6">
            <a:extLst>
              <a:ext uri="{FF2B5EF4-FFF2-40B4-BE49-F238E27FC236}">
                <a16:creationId xmlns:a16="http://schemas.microsoft.com/office/drawing/2014/main" id="{0F2DC796-67BB-C774-75FB-1003FCD314BC}"/>
              </a:ext>
            </a:extLst>
          </p:cNvPr>
          <p:cNvSpPr txBox="1"/>
          <p:nvPr/>
        </p:nvSpPr>
        <p:spPr>
          <a:xfrm>
            <a:off x="5158770" y="2386584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</a:rPr>
              <a:t>Hybrid có sigmoid gate (stage 3)</a:t>
            </a:r>
          </a:p>
        </p:txBody>
      </p:sp>
      <p:sp>
        <p:nvSpPr>
          <p:cNvPr id="85" name="abl-status-6">
            <a:extLst>
              <a:ext uri="{FF2B5EF4-FFF2-40B4-BE49-F238E27FC236}">
                <a16:creationId xmlns:a16="http://schemas.microsoft.com/office/drawing/2014/main" id="{48277789-9CB5-B51F-131A-BE648CC5D1B4}"/>
              </a:ext>
            </a:extLst>
          </p:cNvPr>
          <p:cNvSpPr txBox="1"/>
          <p:nvPr/>
        </p:nvSpPr>
        <p:spPr>
          <a:xfrm>
            <a:off x="5158770" y="271576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3D8DFF"/>
                </a:solidFill>
                <a:latin typeface="Arial"/>
              </a:rPr>
              <a:t>Mô hình đề xuất cốt lõi · RQ1–2</a:t>
            </a:r>
          </a:p>
        </p:txBody>
      </p:sp>
      <p:sp>
        <p:nvSpPr>
          <p:cNvPr id="87" name="abl-bg-7">
            <a:extLst>
              <a:ext uri="{FF2B5EF4-FFF2-40B4-BE49-F238E27FC236}">
                <a16:creationId xmlns:a16="http://schemas.microsoft.com/office/drawing/2014/main" id="{B4275EBD-81FB-645B-BD92-1C24C940A539}"/>
              </a:ext>
            </a:extLst>
          </p:cNvPr>
          <p:cNvSpPr/>
          <p:nvPr/>
        </p:nvSpPr>
        <p:spPr>
          <a:xfrm>
            <a:off x="4381530" y="3163824"/>
            <a:ext cx="3703320" cy="7315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abl-code-bg-7">
            <a:extLst>
              <a:ext uri="{FF2B5EF4-FFF2-40B4-BE49-F238E27FC236}">
                <a16:creationId xmlns:a16="http://schemas.microsoft.com/office/drawing/2014/main" id="{C1103985-A92C-11A5-79BD-736135B73493}"/>
              </a:ext>
            </a:extLst>
          </p:cNvPr>
          <p:cNvSpPr/>
          <p:nvPr/>
        </p:nvSpPr>
        <p:spPr>
          <a:xfrm>
            <a:off x="4381530" y="3163824"/>
            <a:ext cx="640080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abl-code-7">
            <a:extLst>
              <a:ext uri="{FF2B5EF4-FFF2-40B4-BE49-F238E27FC236}">
                <a16:creationId xmlns:a16="http://schemas.microsoft.com/office/drawing/2014/main" id="{04266671-E8AE-E07B-95B5-F4573F45522B}"/>
              </a:ext>
            </a:extLst>
          </p:cNvPr>
          <p:cNvSpPr txBox="1"/>
          <p:nvPr/>
        </p:nvSpPr>
        <p:spPr>
          <a:xfrm>
            <a:off x="4381530" y="3163824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A7</a:t>
            </a:r>
          </a:p>
        </p:txBody>
      </p:sp>
      <p:sp>
        <p:nvSpPr>
          <p:cNvPr id="93" name="abl-cfg-7">
            <a:extLst>
              <a:ext uri="{FF2B5EF4-FFF2-40B4-BE49-F238E27FC236}">
                <a16:creationId xmlns:a16="http://schemas.microsoft.com/office/drawing/2014/main" id="{78FD010A-FC22-2F1B-E5EF-E81675FC0790}"/>
              </a:ext>
            </a:extLst>
          </p:cNvPr>
          <p:cNvSpPr txBox="1"/>
          <p:nvPr/>
        </p:nvSpPr>
        <p:spPr>
          <a:xfrm>
            <a:off x="5158770" y="3236976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</a:rPr>
              <a:t>A6 trên stage 2 + 3</a:t>
            </a:r>
          </a:p>
        </p:txBody>
      </p:sp>
      <p:sp>
        <p:nvSpPr>
          <p:cNvPr id="95" name="abl-status-7">
            <a:extLst>
              <a:ext uri="{FF2B5EF4-FFF2-40B4-BE49-F238E27FC236}">
                <a16:creationId xmlns:a16="http://schemas.microsoft.com/office/drawing/2014/main" id="{46BED817-C3E6-BD9C-477B-596D01C9EB65}"/>
              </a:ext>
            </a:extLst>
          </p:cNvPr>
          <p:cNvSpPr txBox="1"/>
          <p:nvPr/>
        </p:nvSpPr>
        <p:spPr>
          <a:xfrm>
            <a:off x="5158770" y="356616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3D8DFF"/>
                </a:solidFill>
                <a:latin typeface="Arial"/>
              </a:rPr>
              <a:t>Đa tỉ lệ · RQ3</a:t>
            </a:r>
          </a:p>
        </p:txBody>
      </p:sp>
      <p:sp>
        <p:nvSpPr>
          <p:cNvPr id="97" name="abl-bg-8">
            <a:extLst>
              <a:ext uri="{FF2B5EF4-FFF2-40B4-BE49-F238E27FC236}">
                <a16:creationId xmlns:a16="http://schemas.microsoft.com/office/drawing/2014/main" id="{6A65F195-62BF-EA78-7291-7210EBB115F5}"/>
              </a:ext>
            </a:extLst>
          </p:cNvPr>
          <p:cNvSpPr/>
          <p:nvPr/>
        </p:nvSpPr>
        <p:spPr>
          <a:xfrm>
            <a:off x="4381530" y="4014216"/>
            <a:ext cx="3703320" cy="7315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abl-code-bg-8">
            <a:extLst>
              <a:ext uri="{FF2B5EF4-FFF2-40B4-BE49-F238E27FC236}">
                <a16:creationId xmlns:a16="http://schemas.microsoft.com/office/drawing/2014/main" id="{CB2BFE2B-C61D-C559-87B0-F2D6941251A0}"/>
              </a:ext>
            </a:extLst>
          </p:cNvPr>
          <p:cNvSpPr/>
          <p:nvPr/>
        </p:nvSpPr>
        <p:spPr>
          <a:xfrm>
            <a:off x="4381530" y="4014216"/>
            <a:ext cx="640080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abl-code-8">
            <a:extLst>
              <a:ext uri="{FF2B5EF4-FFF2-40B4-BE49-F238E27FC236}">
                <a16:creationId xmlns:a16="http://schemas.microsoft.com/office/drawing/2014/main" id="{1212C1BA-FB26-6BC0-75D7-B165548887FF}"/>
              </a:ext>
            </a:extLst>
          </p:cNvPr>
          <p:cNvSpPr txBox="1"/>
          <p:nvPr/>
        </p:nvSpPr>
        <p:spPr>
          <a:xfrm>
            <a:off x="4381530" y="4014216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A8</a:t>
            </a:r>
          </a:p>
        </p:txBody>
      </p:sp>
      <p:sp>
        <p:nvSpPr>
          <p:cNvPr id="103" name="abl-cfg-8">
            <a:extLst>
              <a:ext uri="{FF2B5EF4-FFF2-40B4-BE49-F238E27FC236}">
                <a16:creationId xmlns:a16="http://schemas.microsoft.com/office/drawing/2014/main" id="{225F97B9-C2BD-8385-EB74-A8EE0C7DCCA1}"/>
              </a:ext>
            </a:extLst>
          </p:cNvPr>
          <p:cNvSpPr txBox="1"/>
          <p:nvPr/>
        </p:nvSpPr>
        <p:spPr>
          <a:xfrm>
            <a:off x="5158770" y="4087368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</a:rPr>
              <a:t>A7 + ACRN (pipeline đầy đủ)</a:t>
            </a:r>
          </a:p>
        </p:txBody>
      </p:sp>
      <p:sp>
        <p:nvSpPr>
          <p:cNvPr id="105" name="abl-status-8">
            <a:extLst>
              <a:ext uri="{FF2B5EF4-FFF2-40B4-BE49-F238E27FC236}">
                <a16:creationId xmlns:a16="http://schemas.microsoft.com/office/drawing/2014/main" id="{21F61CE0-E697-8FCC-DA19-90C7674B8DE5}"/>
              </a:ext>
            </a:extLst>
          </p:cNvPr>
          <p:cNvSpPr txBox="1"/>
          <p:nvPr/>
        </p:nvSpPr>
        <p:spPr>
          <a:xfrm>
            <a:off x="5158770" y="4416552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3D8DFF"/>
                </a:solidFill>
                <a:latin typeface="Arial"/>
              </a:rPr>
              <a:t>Actor context · RQ4</a:t>
            </a:r>
          </a:p>
        </p:txBody>
      </p:sp>
      <p:sp>
        <p:nvSpPr>
          <p:cNvPr id="107" name="abl-bg-9">
            <a:extLst>
              <a:ext uri="{FF2B5EF4-FFF2-40B4-BE49-F238E27FC236}">
                <a16:creationId xmlns:a16="http://schemas.microsoft.com/office/drawing/2014/main" id="{E55CCA27-5F83-C92E-8F0D-F2D92B3E4343}"/>
              </a:ext>
            </a:extLst>
          </p:cNvPr>
          <p:cNvSpPr/>
          <p:nvPr/>
        </p:nvSpPr>
        <p:spPr>
          <a:xfrm>
            <a:off x="4381530" y="4864608"/>
            <a:ext cx="3703320" cy="7315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abl-code-bg-9">
            <a:extLst>
              <a:ext uri="{FF2B5EF4-FFF2-40B4-BE49-F238E27FC236}">
                <a16:creationId xmlns:a16="http://schemas.microsoft.com/office/drawing/2014/main" id="{A3B7A5B1-E4C0-177C-A167-07529D92540D}"/>
              </a:ext>
            </a:extLst>
          </p:cNvPr>
          <p:cNvSpPr/>
          <p:nvPr/>
        </p:nvSpPr>
        <p:spPr>
          <a:xfrm>
            <a:off x="4381530" y="4864608"/>
            <a:ext cx="640080" cy="7315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abl-code-9">
            <a:extLst>
              <a:ext uri="{FF2B5EF4-FFF2-40B4-BE49-F238E27FC236}">
                <a16:creationId xmlns:a16="http://schemas.microsoft.com/office/drawing/2014/main" id="{93ACC43C-ABB4-ECE8-0759-F1953172AE57}"/>
              </a:ext>
            </a:extLst>
          </p:cNvPr>
          <p:cNvSpPr txBox="1"/>
          <p:nvPr/>
        </p:nvSpPr>
        <p:spPr>
          <a:xfrm>
            <a:off x="4381530" y="4864608"/>
            <a:ext cx="6400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A9</a:t>
            </a:r>
          </a:p>
        </p:txBody>
      </p:sp>
      <p:sp>
        <p:nvSpPr>
          <p:cNvPr id="113" name="abl-cfg-9">
            <a:extLst>
              <a:ext uri="{FF2B5EF4-FFF2-40B4-BE49-F238E27FC236}">
                <a16:creationId xmlns:a16="http://schemas.microsoft.com/office/drawing/2014/main" id="{B4CACF15-B5D3-892E-8096-8824AA553B25}"/>
              </a:ext>
            </a:extLst>
          </p:cNvPr>
          <p:cNvSpPr txBox="1"/>
          <p:nvPr/>
        </p:nvSpPr>
        <p:spPr>
          <a:xfrm>
            <a:off x="5158770" y="4937760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Arial"/>
              </a:rPr>
              <a:t>BCE / focal / weight / focal + weight</a:t>
            </a:r>
          </a:p>
        </p:txBody>
      </p:sp>
      <p:sp>
        <p:nvSpPr>
          <p:cNvPr id="115" name="abl-status-9">
            <a:extLst>
              <a:ext uri="{FF2B5EF4-FFF2-40B4-BE49-F238E27FC236}">
                <a16:creationId xmlns:a16="http://schemas.microsoft.com/office/drawing/2014/main" id="{6C489100-3290-C9FF-6351-DC4D0021D3BC}"/>
              </a:ext>
            </a:extLst>
          </p:cNvPr>
          <p:cNvSpPr txBox="1"/>
          <p:nvPr/>
        </p:nvSpPr>
        <p:spPr>
          <a:xfrm>
            <a:off x="5158770" y="5266944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3D8DFF"/>
                </a:solidFill>
                <a:latin typeface="Arial"/>
              </a:rPr>
              <a:t>Hàm mất mát · RQ4</a:t>
            </a:r>
          </a:p>
        </p:txBody>
      </p:sp>
    </p:spTree>
    <p:extLst>
      <p:ext uri="{BB962C8B-B14F-4D97-AF65-F5344CB8AC3E}">
        <p14:creationId xmlns:p14="http://schemas.microsoft.com/office/powerpoint/2010/main" val="2208455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B102-7290-A8BF-F5A4-FCEA0A42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">
            <a:extLst>
              <a:ext uri="{FF2B5EF4-FFF2-40B4-BE49-F238E27FC236}">
                <a16:creationId xmlns:a16="http://schemas.microsoft.com/office/drawing/2014/main" id="{F5FB2FD7-869E-683F-1340-8A9893D77CD6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523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· KẾT QUẢ THỰC NGHIỆM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A13C1F9-B8C8-72F4-8E29-797D73A94143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27"/>
          </a:bodyPr>
          <a:lstStyle/>
          <a:p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Kết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quả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hiện</a:t>
            </a:r>
            <a:r>
              <a:rPr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tại</a:t>
            </a:r>
            <a:endParaRPr sz="31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" name="header-rule">
            <a:extLst>
              <a:ext uri="{FF2B5EF4-FFF2-40B4-BE49-F238E27FC236}">
                <a16:creationId xmlns:a16="http://schemas.microsoft.com/office/drawing/2014/main" id="{9BEBD2EB-F0D6-B0CE-A048-39C4CFB2E036}"/>
              </a:ext>
            </a:extLst>
          </p:cNvPr>
          <p:cNvCxnSpPr/>
          <p:nvPr/>
        </p:nvCxnSpPr>
        <p:spPr>
          <a:xfrm>
            <a:off x="495300" y="1190625"/>
            <a:ext cx="11201400" cy="9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number">
            <a:extLst>
              <a:ext uri="{FF2B5EF4-FFF2-40B4-BE49-F238E27FC236}">
                <a16:creationId xmlns:a16="http://schemas.microsoft.com/office/drawing/2014/main" id="{6250B28A-1CD0-1404-D8D0-741C7B885DE8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24" name="header-rule">
            <a:extLst>
              <a:ext uri="{FF2B5EF4-FFF2-40B4-BE49-F238E27FC236}">
                <a16:creationId xmlns:a16="http://schemas.microsoft.com/office/drawing/2014/main" id="{75F17271-60D7-EDBB-75E0-10C540289852}"/>
              </a:ext>
            </a:extLst>
          </p:cNvPr>
          <p:cNvCxnSpPr/>
          <p:nvPr/>
        </p:nvCxnSpPr>
        <p:spPr>
          <a:xfrm>
            <a:off x="495300" y="1190625"/>
            <a:ext cx="11201400" cy="9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graphicFrame>
        <p:nvGraphicFramePr>
          <p:cNvPr id="26" name="main-chart">
            <a:extLst>
              <a:ext uri="{FF2B5EF4-FFF2-40B4-BE49-F238E27FC236}">
                <a16:creationId xmlns:a16="http://schemas.microsoft.com/office/drawing/2014/main" id="{BFCE94B8-8AD4-1078-D9D5-2D7F5BD67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052992"/>
              </p:ext>
            </p:extLst>
          </p:nvPr>
        </p:nvGraphicFramePr>
        <p:xfrm>
          <a:off x="495329" y="1417320"/>
          <a:ext cx="11112171" cy="4536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1568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">
            <a:extLst>
              <a:ext uri="{FF2B5EF4-FFF2-40B4-BE49-F238E27FC236}">
                <a16:creationId xmlns:a16="http://schemas.microsoft.com/office/drawing/2014/main" id="{02FAA2D3-DA6D-4A80-9FA8-7C819790E8E5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523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 · KẾ HOẠCH HOÀN THÀNH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B303C80-05D2-4C4D-9EEC-D55D6BFAD7D9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Kê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́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hoạch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tiến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đô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̣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trong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3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tuần</a:t>
            </a:r>
            <a:endParaRPr sz="31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5" name="header-rule"/>
          <p:cNvCxnSpPr/>
          <p:nvPr/>
        </p:nvCxnSpPr>
        <p:spPr>
          <a:xfrm>
            <a:off x="495300" y="1190625"/>
            <a:ext cx="11201400" cy="9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number">
            <a:extLst>
              <a:ext uri="{FF2B5EF4-FFF2-40B4-BE49-F238E27FC236}">
                <a16:creationId xmlns:a16="http://schemas.microsoft.com/office/drawing/2014/main" id="{B1B2E8CD-DA48-4C9F-86BA-A117DB3F8266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date-0">
            <a:extLst>
              <a:ext uri="{FF2B5EF4-FFF2-40B4-BE49-F238E27FC236}">
                <a16:creationId xmlns:a16="http://schemas.microsoft.com/office/drawing/2014/main" id="{37CB177F-E0F2-4D64-908E-3F09AFF6E0BF}"/>
              </a:ext>
            </a:extLst>
          </p:cNvPr>
          <p:cNvSpPr>
            <a:spLocks noGrp="1"/>
          </p:cNvSpPr>
          <p:nvPr/>
        </p:nvSpPr>
        <p:spPr>
          <a:xfrm>
            <a:off x="2249526" y="188595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sz="120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  <a:r>
              <a:rPr sz="120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–2</a:t>
            </a:r>
            <a:r>
              <a:rPr lang="en-US" sz="120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8</a:t>
            </a:r>
            <a:r>
              <a:rPr sz="120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/07</a:t>
            </a:r>
          </a:p>
        </p:txBody>
      </p:sp>
      <p:sp>
        <p:nvSpPr>
          <p:cNvPr id="10" name="milestone-0">
            <a:extLst>
              <a:ext uri="{FF2B5EF4-FFF2-40B4-BE49-F238E27FC236}">
                <a16:creationId xmlns:a16="http://schemas.microsoft.com/office/drawing/2014/main" id="{0A579E90-793D-435B-9A39-C15580F68465}"/>
              </a:ext>
            </a:extLst>
          </p:cNvPr>
          <p:cNvSpPr>
            <a:spLocks noGrp="1"/>
          </p:cNvSpPr>
          <p:nvPr/>
        </p:nvSpPr>
        <p:spPr>
          <a:xfrm>
            <a:off x="2249526" y="2381250"/>
            <a:ext cx="2305050" cy="2095500"/>
          </a:xfrm>
          <a:prstGeom prst="rect">
            <a:avLst/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milestone-num-0">
            <a:extLst>
              <a:ext uri="{FF2B5EF4-FFF2-40B4-BE49-F238E27FC236}">
                <a16:creationId xmlns:a16="http://schemas.microsoft.com/office/drawing/2014/main" id="{9274DB05-6CB2-42D1-AA4E-603258568921}"/>
              </a:ext>
            </a:extLst>
          </p:cNvPr>
          <p:cNvSpPr>
            <a:spLocks noGrp="1"/>
          </p:cNvSpPr>
          <p:nvPr/>
        </p:nvSpPr>
        <p:spPr>
          <a:xfrm>
            <a:off x="2440026" y="25908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date-1">
            <a:extLst>
              <a:ext uri="{FF2B5EF4-FFF2-40B4-BE49-F238E27FC236}">
                <a16:creationId xmlns:a16="http://schemas.microsoft.com/office/drawing/2014/main" id="{4A515B6E-AB08-4840-8604-EE11ECBCA71C}"/>
              </a:ext>
            </a:extLst>
          </p:cNvPr>
          <p:cNvSpPr>
            <a:spLocks noGrp="1"/>
          </p:cNvSpPr>
          <p:nvPr/>
        </p:nvSpPr>
        <p:spPr>
          <a:xfrm>
            <a:off x="5049876" y="188595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98F8A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98F8A"/>
                </a:solidFill>
                <a:latin typeface="Arial"/>
                <a:ea typeface="Arial"/>
                <a:cs typeface="Arial"/>
              </a:rPr>
              <a:t>28/07–03/08</a:t>
            </a:r>
          </a:p>
        </p:txBody>
      </p:sp>
      <p:sp>
        <p:nvSpPr>
          <p:cNvPr id="15" name="milestone-1">
            <a:extLst>
              <a:ext uri="{FF2B5EF4-FFF2-40B4-BE49-F238E27FC236}">
                <a16:creationId xmlns:a16="http://schemas.microsoft.com/office/drawing/2014/main" id="{CAFBF3FB-BF36-4226-B0C2-8C4601A3B251}"/>
              </a:ext>
            </a:extLst>
          </p:cNvPr>
          <p:cNvSpPr>
            <a:spLocks noGrp="1"/>
          </p:cNvSpPr>
          <p:nvPr/>
        </p:nvSpPr>
        <p:spPr>
          <a:xfrm>
            <a:off x="5049876" y="2381250"/>
            <a:ext cx="2305050" cy="2095500"/>
          </a:xfrm>
          <a:prstGeom prst="rect">
            <a:avLst/>
          </a:prstGeom>
          <a:solidFill>
            <a:srgbClr val="E9F6EF"/>
          </a:solidFill>
          <a:ln w="9525">
            <a:solidFill>
              <a:srgbClr val="198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ilestone-num-1">
            <a:extLst>
              <a:ext uri="{FF2B5EF4-FFF2-40B4-BE49-F238E27FC236}">
                <a16:creationId xmlns:a16="http://schemas.microsoft.com/office/drawing/2014/main" id="{0D011716-4029-4485-95A2-B2707511A226}"/>
              </a:ext>
            </a:extLst>
          </p:cNvPr>
          <p:cNvSpPr>
            <a:spLocks noGrp="1"/>
          </p:cNvSpPr>
          <p:nvPr/>
        </p:nvSpPr>
        <p:spPr>
          <a:xfrm>
            <a:off x="5240376" y="25908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98F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8F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milestone-title-1">
            <a:extLst>
              <a:ext uri="{FF2B5EF4-FFF2-40B4-BE49-F238E27FC236}">
                <a16:creationId xmlns:a16="http://schemas.microsoft.com/office/drawing/2014/main" id="{453DDAEE-EDF0-4FA4-9DC5-88177CDCD925}"/>
              </a:ext>
            </a:extLst>
          </p:cNvPr>
          <p:cNvSpPr>
            <a:spLocks noGrp="1"/>
          </p:cNvSpPr>
          <p:nvPr/>
        </p:nvSpPr>
        <p:spPr>
          <a:xfrm>
            <a:off x="5278476" y="3214804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Thay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đổi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tham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sô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́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chứng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minh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tối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ưu</a:t>
            </a:r>
            <a:endParaRPr sz="18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date-2">
            <a:extLst>
              <a:ext uri="{FF2B5EF4-FFF2-40B4-BE49-F238E27FC236}">
                <a16:creationId xmlns:a16="http://schemas.microsoft.com/office/drawing/2014/main" id="{F2CFD361-FD0F-4683-B912-7DBA7DF3A568}"/>
              </a:ext>
            </a:extLst>
          </p:cNvPr>
          <p:cNvSpPr>
            <a:spLocks noGrp="1"/>
          </p:cNvSpPr>
          <p:nvPr/>
        </p:nvSpPr>
        <p:spPr>
          <a:xfrm>
            <a:off x="7850226" y="1885950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D58B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D58B00"/>
                </a:solidFill>
                <a:latin typeface="Arial"/>
                <a:ea typeface="Arial"/>
                <a:cs typeface="Arial"/>
              </a:rPr>
              <a:t>04–</a:t>
            </a:r>
            <a:r>
              <a:rPr lang="en-US" sz="1200" b="1" dirty="0">
                <a:solidFill>
                  <a:srgbClr val="D58B00"/>
                </a:solidFill>
                <a:latin typeface="Arial"/>
                <a:ea typeface="Arial"/>
                <a:cs typeface="Arial"/>
              </a:rPr>
              <a:t>7</a:t>
            </a:r>
            <a:r>
              <a:rPr sz="1200" b="1" dirty="0">
                <a:solidFill>
                  <a:srgbClr val="D58B00"/>
                </a:solidFill>
                <a:latin typeface="Arial"/>
                <a:ea typeface="Arial"/>
                <a:cs typeface="Arial"/>
              </a:rPr>
              <a:t>/08</a:t>
            </a:r>
          </a:p>
        </p:txBody>
      </p:sp>
      <p:sp>
        <p:nvSpPr>
          <p:cNvPr id="20" name="milestone-2">
            <a:extLst>
              <a:ext uri="{FF2B5EF4-FFF2-40B4-BE49-F238E27FC236}">
                <a16:creationId xmlns:a16="http://schemas.microsoft.com/office/drawing/2014/main" id="{C6D01449-78D7-438F-B6CF-6A8996C571C1}"/>
              </a:ext>
            </a:extLst>
          </p:cNvPr>
          <p:cNvSpPr>
            <a:spLocks noGrp="1"/>
          </p:cNvSpPr>
          <p:nvPr/>
        </p:nvSpPr>
        <p:spPr>
          <a:xfrm>
            <a:off x="7850226" y="2381250"/>
            <a:ext cx="2305050" cy="2095500"/>
          </a:xfrm>
          <a:prstGeom prst="rect">
            <a:avLst/>
          </a:prstGeom>
          <a:solidFill>
            <a:srgbClr val="FFF4D6"/>
          </a:solidFill>
          <a:ln w="9525">
            <a:solidFill>
              <a:srgbClr val="D5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milestone-num-2">
            <a:extLst>
              <a:ext uri="{FF2B5EF4-FFF2-40B4-BE49-F238E27FC236}">
                <a16:creationId xmlns:a16="http://schemas.microsoft.com/office/drawing/2014/main" id="{CF4A145A-BE5B-42E8-A1F5-44D51037FD5B}"/>
              </a:ext>
            </a:extLst>
          </p:cNvPr>
          <p:cNvSpPr>
            <a:spLocks noGrp="1"/>
          </p:cNvSpPr>
          <p:nvPr/>
        </p:nvSpPr>
        <p:spPr>
          <a:xfrm>
            <a:off x="8040726" y="25908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D58B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58B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milestone-title-2">
            <a:extLst>
              <a:ext uri="{FF2B5EF4-FFF2-40B4-BE49-F238E27FC236}">
                <a16:creationId xmlns:a16="http://schemas.microsoft.com/office/drawing/2014/main" id="{ED999485-9C93-4ED1-9521-A70A7A2B2E93}"/>
              </a:ext>
            </a:extLst>
          </p:cNvPr>
          <p:cNvSpPr>
            <a:spLocks noGrp="1"/>
          </p:cNvSpPr>
          <p:nvPr/>
        </p:nvSpPr>
        <p:spPr>
          <a:xfrm>
            <a:off x="8040726" y="3028950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Cập</a:t>
            </a:r>
            <a:r>
              <a:rPr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nhật</a:t>
            </a:r>
            <a:r>
              <a:rPr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luận</a:t>
            </a:r>
            <a:r>
              <a:rPr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văn</a:t>
            </a:r>
            <a:endParaRPr sz="18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milestone-body-2">
            <a:extLst>
              <a:ext uri="{FF2B5EF4-FFF2-40B4-BE49-F238E27FC236}">
                <a16:creationId xmlns:a16="http://schemas.microsoft.com/office/drawing/2014/main" id="{90CC31D1-2124-4533-B41A-55D2D2CDE1FD}"/>
              </a:ext>
            </a:extLst>
          </p:cNvPr>
          <p:cNvSpPr>
            <a:spLocks noGrp="1"/>
          </p:cNvSpPr>
          <p:nvPr/>
        </p:nvSpPr>
        <p:spPr>
          <a:xfrm>
            <a:off x="8040726" y="3661549"/>
            <a:ext cx="1924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US" sz="1200" dirty="0" err="1">
                <a:solidFill>
                  <a:srgbClr val="5B6472"/>
                </a:solidFill>
                <a:latin typeface="Arial"/>
                <a:ea typeface="Arial"/>
                <a:cs typeface="Arial"/>
              </a:rPr>
              <a:t>Viết</a:t>
            </a:r>
            <a:r>
              <a:rPr lang="en-US" sz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Arial"/>
                <a:ea typeface="Arial"/>
                <a:cs typeface="Arial"/>
              </a:rPr>
              <a:t>luận</a:t>
            </a:r>
            <a:r>
              <a:rPr lang="en-US" sz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Arial"/>
                <a:ea typeface="Arial"/>
                <a:cs typeface="Arial"/>
              </a:rPr>
              <a:t>văn</a:t>
            </a:r>
            <a:r>
              <a:rPr lang="en-US" sz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Arial"/>
                <a:ea typeface="Arial"/>
                <a:cs typeface="Arial"/>
              </a:rPr>
              <a:t>với</a:t>
            </a:r>
            <a:r>
              <a:rPr lang="en-US" sz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Arial"/>
                <a:ea typeface="Arial"/>
                <a:cs typeface="Arial"/>
              </a:rPr>
              <a:t>các</a:t>
            </a:r>
            <a:r>
              <a:rPr lang="en-US" sz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dirty="0" err="1">
                <a:solidFill>
                  <a:srgbClr val="5B6472"/>
                </a:solidFill>
                <a:latin typeface="Arial"/>
                <a:ea typeface="Arial"/>
                <a:cs typeface="Arial"/>
              </a:rPr>
              <a:t>kết</a:t>
            </a:r>
            <a:r>
              <a:rPr lang="en-US" sz="120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 quả </a:t>
            </a:r>
            <a:r>
              <a:rPr lang="en-US" sz="1200" dirty="0" err="1">
                <a:solidFill>
                  <a:srgbClr val="5B6472"/>
                </a:solidFill>
                <a:latin typeface="Arial"/>
                <a:ea typeface="Arial"/>
                <a:cs typeface="Arial"/>
              </a:rPr>
              <a:t>cuối</a:t>
            </a:r>
            <a:endParaRPr sz="1200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milestone-title-1">
            <a:extLst>
              <a:ext uri="{FF2B5EF4-FFF2-40B4-BE49-F238E27FC236}">
                <a16:creationId xmlns:a16="http://schemas.microsoft.com/office/drawing/2014/main" id="{A8866C66-F682-6FDE-AF21-CF6C41AE2A1F}"/>
              </a:ext>
            </a:extLst>
          </p:cNvPr>
          <p:cNvSpPr>
            <a:spLocks noGrp="1"/>
          </p:cNvSpPr>
          <p:nvPr/>
        </p:nvSpPr>
        <p:spPr>
          <a:xfrm>
            <a:off x="2440026" y="3276600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 lnSpcReduction="10000"/>
          </a:bodyPr>
          <a:lstStyle/>
          <a:p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Bổ</a:t>
            </a:r>
            <a:r>
              <a:rPr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sung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nội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dung </a:t>
            </a:r>
            <a:r>
              <a:rPr lang="en-US" sz="20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ablation</a:t>
            </a:r>
            <a:endParaRPr sz="18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2299E69E-6504-3DA6-BEFA-D110D1B68F6A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4554576" y="3429000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Đường kết nối Mũi tên Thẳng 33">
            <a:extLst>
              <a:ext uri="{FF2B5EF4-FFF2-40B4-BE49-F238E27FC236}">
                <a16:creationId xmlns:a16="http://schemas.microsoft.com/office/drawing/2014/main" id="{4565ABFD-8137-3890-C901-45B719F6CE17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7354926" y="3429000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702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3895-DA0F-2261-E973-783DD50F5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">
            <a:extLst>
              <a:ext uri="{FF2B5EF4-FFF2-40B4-BE49-F238E27FC236}">
                <a16:creationId xmlns:a16="http://schemas.microsoft.com/office/drawing/2014/main" id="{107BE38F-0A78-13A2-382A-8C350A0F64D8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523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 · KẾ HOẠCH HOÀN THÀNH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B7545A9-4BCF-1103-8729-1C67CA1F5AB2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Kê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́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hoạch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viết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luận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văn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trong</a:t>
            </a:r>
            <a:r>
              <a:rPr lang="en-US" sz="31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3 </a:t>
            </a:r>
            <a:r>
              <a:rPr lang="en-US" sz="31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tuần</a:t>
            </a:r>
            <a:endParaRPr sz="31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5" name="header-rule">
            <a:extLst>
              <a:ext uri="{FF2B5EF4-FFF2-40B4-BE49-F238E27FC236}">
                <a16:creationId xmlns:a16="http://schemas.microsoft.com/office/drawing/2014/main" id="{1DD5A979-D0B9-5307-20C0-5564AD455615}"/>
              </a:ext>
            </a:extLst>
          </p:cNvPr>
          <p:cNvCxnSpPr/>
          <p:nvPr/>
        </p:nvCxnSpPr>
        <p:spPr>
          <a:xfrm>
            <a:off x="901700" y="1221510"/>
            <a:ext cx="11201400" cy="9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number">
            <a:extLst>
              <a:ext uri="{FF2B5EF4-FFF2-40B4-BE49-F238E27FC236}">
                <a16:creationId xmlns:a16="http://schemas.microsoft.com/office/drawing/2014/main" id="{39741856-63D3-A977-3F2D-9DF39D475262}"/>
              </a:ext>
            </a:extLst>
          </p:cNvPr>
          <p:cNvSpPr>
            <a:spLocks noGrp="1"/>
          </p:cNvSpPr>
          <p:nvPr/>
        </p:nvSpPr>
        <p:spPr>
          <a:xfrm>
            <a:off x="11296650" y="64198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date-0">
            <a:extLst>
              <a:ext uri="{FF2B5EF4-FFF2-40B4-BE49-F238E27FC236}">
                <a16:creationId xmlns:a16="http://schemas.microsoft.com/office/drawing/2014/main" id="{21F7439C-0A7D-E6CC-E524-D67EB8CA604C}"/>
              </a:ext>
            </a:extLst>
          </p:cNvPr>
          <p:cNvSpPr>
            <a:spLocks noGrp="1"/>
          </p:cNvSpPr>
          <p:nvPr/>
        </p:nvSpPr>
        <p:spPr>
          <a:xfrm>
            <a:off x="5160328" y="2256222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 err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Tháng</a:t>
            </a:r>
            <a:r>
              <a:rPr lang="en-US" sz="120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 10</a:t>
            </a:r>
            <a:endParaRPr sz="1200" b="1" dirty="0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milestone-0">
            <a:extLst>
              <a:ext uri="{FF2B5EF4-FFF2-40B4-BE49-F238E27FC236}">
                <a16:creationId xmlns:a16="http://schemas.microsoft.com/office/drawing/2014/main" id="{6B9ECE10-F22F-AD68-9542-7CD7B1AE04E3}"/>
              </a:ext>
            </a:extLst>
          </p:cNvPr>
          <p:cNvSpPr>
            <a:spLocks noGrp="1"/>
          </p:cNvSpPr>
          <p:nvPr/>
        </p:nvSpPr>
        <p:spPr>
          <a:xfrm>
            <a:off x="5160328" y="2751522"/>
            <a:ext cx="2305050" cy="2095500"/>
          </a:xfrm>
          <a:prstGeom prst="rect">
            <a:avLst/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milestone-num-0">
            <a:extLst>
              <a:ext uri="{FF2B5EF4-FFF2-40B4-BE49-F238E27FC236}">
                <a16:creationId xmlns:a16="http://schemas.microsoft.com/office/drawing/2014/main" id="{1EA7E676-E41F-EDD8-B57F-216940222E8C}"/>
              </a:ext>
            </a:extLst>
          </p:cNvPr>
          <p:cNvSpPr>
            <a:spLocks noGrp="1"/>
          </p:cNvSpPr>
          <p:nvPr/>
        </p:nvSpPr>
        <p:spPr>
          <a:xfrm>
            <a:off x="5350828" y="2961072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05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  <a:endParaRPr sz="1050" b="1" dirty="0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date-1">
            <a:extLst>
              <a:ext uri="{FF2B5EF4-FFF2-40B4-BE49-F238E27FC236}">
                <a16:creationId xmlns:a16="http://schemas.microsoft.com/office/drawing/2014/main" id="{BEC99A15-B645-BBA5-1BD5-162AAA3B776F}"/>
              </a:ext>
            </a:extLst>
          </p:cNvPr>
          <p:cNvSpPr>
            <a:spLocks noGrp="1"/>
          </p:cNvSpPr>
          <p:nvPr/>
        </p:nvSpPr>
        <p:spPr>
          <a:xfrm>
            <a:off x="7992352" y="2256222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98F8A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198F8A"/>
                </a:solidFill>
                <a:latin typeface="Arial"/>
                <a:ea typeface="Arial"/>
                <a:cs typeface="Arial"/>
              </a:rPr>
              <a:t>20</a:t>
            </a:r>
            <a:r>
              <a:rPr sz="1200" b="1" dirty="0">
                <a:solidFill>
                  <a:srgbClr val="198F8A"/>
                </a:solidFill>
                <a:latin typeface="Arial"/>
                <a:ea typeface="Arial"/>
                <a:cs typeface="Arial"/>
              </a:rPr>
              <a:t>/</a:t>
            </a:r>
            <a:r>
              <a:rPr lang="en-US" sz="1200" b="1" dirty="0">
                <a:solidFill>
                  <a:srgbClr val="198F8A"/>
                </a:solidFill>
                <a:latin typeface="Arial"/>
                <a:ea typeface="Arial"/>
                <a:cs typeface="Arial"/>
              </a:rPr>
              <a:t>10</a:t>
            </a:r>
            <a:endParaRPr sz="1200" b="1" dirty="0">
              <a:solidFill>
                <a:srgbClr val="198F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milestone-1">
            <a:extLst>
              <a:ext uri="{FF2B5EF4-FFF2-40B4-BE49-F238E27FC236}">
                <a16:creationId xmlns:a16="http://schemas.microsoft.com/office/drawing/2014/main" id="{689A036E-B6A5-E2A2-15C9-603C4DEAB042}"/>
              </a:ext>
            </a:extLst>
          </p:cNvPr>
          <p:cNvSpPr>
            <a:spLocks noGrp="1"/>
          </p:cNvSpPr>
          <p:nvPr/>
        </p:nvSpPr>
        <p:spPr>
          <a:xfrm>
            <a:off x="7992352" y="2751522"/>
            <a:ext cx="2305050" cy="2095500"/>
          </a:xfrm>
          <a:prstGeom prst="rect">
            <a:avLst/>
          </a:prstGeom>
          <a:solidFill>
            <a:srgbClr val="E9F6EF"/>
          </a:solidFill>
          <a:ln w="9525">
            <a:solidFill>
              <a:srgbClr val="198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milestone-num-1">
            <a:extLst>
              <a:ext uri="{FF2B5EF4-FFF2-40B4-BE49-F238E27FC236}">
                <a16:creationId xmlns:a16="http://schemas.microsoft.com/office/drawing/2014/main" id="{75B312BE-5A17-E5F6-146D-83FA6264B295}"/>
              </a:ext>
            </a:extLst>
          </p:cNvPr>
          <p:cNvSpPr>
            <a:spLocks noGrp="1"/>
          </p:cNvSpPr>
          <p:nvPr/>
        </p:nvSpPr>
        <p:spPr>
          <a:xfrm>
            <a:off x="8182852" y="2961072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98F8A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198F8A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050" b="1" dirty="0">
                <a:solidFill>
                  <a:srgbClr val="198F8A"/>
                </a:solidFill>
                <a:latin typeface="Arial"/>
                <a:ea typeface="Arial"/>
                <a:cs typeface="Arial"/>
              </a:rPr>
              <a:t>3</a:t>
            </a:r>
            <a:endParaRPr sz="1050" b="1" dirty="0">
              <a:solidFill>
                <a:srgbClr val="198F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milestone-title-1">
            <a:extLst>
              <a:ext uri="{FF2B5EF4-FFF2-40B4-BE49-F238E27FC236}">
                <a16:creationId xmlns:a16="http://schemas.microsoft.com/office/drawing/2014/main" id="{D07B3135-C2A5-0E16-F5E1-9035FB87D8A5}"/>
              </a:ext>
            </a:extLst>
          </p:cNvPr>
          <p:cNvSpPr>
            <a:spLocks noGrp="1"/>
          </p:cNvSpPr>
          <p:nvPr/>
        </p:nvSpPr>
        <p:spPr>
          <a:xfrm>
            <a:off x="7992352" y="3496141"/>
            <a:ext cx="2292274" cy="8729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Hoàn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thiện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luận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văn</a:t>
            </a:r>
            <a:endParaRPr lang="en-US" sz="18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milestone-title-1">
            <a:extLst>
              <a:ext uri="{FF2B5EF4-FFF2-40B4-BE49-F238E27FC236}">
                <a16:creationId xmlns:a16="http://schemas.microsoft.com/office/drawing/2014/main" id="{05B4D493-0E63-FD47-8112-9907EDFD3E05}"/>
              </a:ext>
            </a:extLst>
          </p:cNvPr>
          <p:cNvSpPr>
            <a:spLocks noGrp="1"/>
          </p:cNvSpPr>
          <p:nvPr/>
        </p:nvSpPr>
        <p:spPr>
          <a:xfrm>
            <a:off x="5147552" y="3532572"/>
            <a:ext cx="2305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Nhận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yêu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cầu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sửa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từ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thầy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hướng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dẫn</a:t>
            </a:r>
            <a:endParaRPr sz="18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8A06D32F-BC6C-B954-2FAA-DD21191572B9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>
            <a:off x="7465378" y="3799272"/>
            <a:ext cx="526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date-2">
            <a:extLst>
              <a:ext uri="{FF2B5EF4-FFF2-40B4-BE49-F238E27FC236}">
                <a16:creationId xmlns:a16="http://schemas.microsoft.com/office/drawing/2014/main" id="{0568F3CC-5CC2-7C70-D1C3-F3125148B338}"/>
              </a:ext>
            </a:extLst>
          </p:cNvPr>
          <p:cNvSpPr>
            <a:spLocks noGrp="1"/>
          </p:cNvSpPr>
          <p:nvPr/>
        </p:nvSpPr>
        <p:spPr>
          <a:xfrm>
            <a:off x="2315528" y="2256222"/>
            <a:ext cx="2305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D58B00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D58B00"/>
                </a:solidFill>
                <a:latin typeface="Arial"/>
                <a:ea typeface="Arial"/>
                <a:cs typeface="Arial"/>
              </a:rPr>
              <a:t>10</a:t>
            </a:r>
            <a:r>
              <a:rPr sz="1200" b="1" dirty="0">
                <a:solidFill>
                  <a:srgbClr val="D58B00"/>
                </a:solidFill>
                <a:latin typeface="Arial"/>
                <a:ea typeface="Arial"/>
                <a:cs typeface="Arial"/>
              </a:rPr>
              <a:t>/</a:t>
            </a:r>
            <a:r>
              <a:rPr lang="en-US" sz="1200" b="1" dirty="0">
                <a:solidFill>
                  <a:srgbClr val="D58B00"/>
                </a:solidFill>
                <a:latin typeface="Arial"/>
                <a:ea typeface="Arial"/>
                <a:cs typeface="Arial"/>
              </a:rPr>
              <a:t>10</a:t>
            </a:r>
            <a:endParaRPr sz="1200" b="1" dirty="0">
              <a:solidFill>
                <a:srgbClr val="D58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milestone-2">
            <a:extLst>
              <a:ext uri="{FF2B5EF4-FFF2-40B4-BE49-F238E27FC236}">
                <a16:creationId xmlns:a16="http://schemas.microsoft.com/office/drawing/2014/main" id="{2DD05EB3-D579-F452-320F-2199F62AB874}"/>
              </a:ext>
            </a:extLst>
          </p:cNvPr>
          <p:cNvSpPr>
            <a:spLocks noGrp="1"/>
          </p:cNvSpPr>
          <p:nvPr/>
        </p:nvSpPr>
        <p:spPr>
          <a:xfrm>
            <a:off x="2315528" y="2751522"/>
            <a:ext cx="2305050" cy="2095500"/>
          </a:xfrm>
          <a:prstGeom prst="rect">
            <a:avLst/>
          </a:prstGeom>
          <a:solidFill>
            <a:srgbClr val="FFF4D6"/>
          </a:solidFill>
          <a:ln w="9525">
            <a:solidFill>
              <a:srgbClr val="D5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milestone-num-2">
            <a:extLst>
              <a:ext uri="{FF2B5EF4-FFF2-40B4-BE49-F238E27FC236}">
                <a16:creationId xmlns:a16="http://schemas.microsoft.com/office/drawing/2014/main" id="{552710C4-B80A-F0FE-88F9-C7AD03D7C422}"/>
              </a:ext>
            </a:extLst>
          </p:cNvPr>
          <p:cNvSpPr>
            <a:spLocks noGrp="1"/>
          </p:cNvSpPr>
          <p:nvPr/>
        </p:nvSpPr>
        <p:spPr>
          <a:xfrm>
            <a:off x="2506028" y="2961072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D58B00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D58B00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050" b="1" dirty="0">
                <a:solidFill>
                  <a:srgbClr val="D58B00"/>
                </a:solidFill>
                <a:latin typeface="Arial"/>
                <a:ea typeface="Arial"/>
                <a:cs typeface="Arial"/>
              </a:rPr>
              <a:t>1</a:t>
            </a:r>
            <a:endParaRPr sz="1050" b="1" dirty="0">
              <a:solidFill>
                <a:srgbClr val="D58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milestone-title-2">
            <a:extLst>
              <a:ext uri="{FF2B5EF4-FFF2-40B4-BE49-F238E27FC236}">
                <a16:creationId xmlns:a16="http://schemas.microsoft.com/office/drawing/2014/main" id="{D9CD0988-F698-0590-27B3-4ED8689BE4CC}"/>
              </a:ext>
            </a:extLst>
          </p:cNvPr>
          <p:cNvSpPr>
            <a:spLocks noGrp="1"/>
          </p:cNvSpPr>
          <p:nvPr/>
        </p:nvSpPr>
        <p:spPr>
          <a:xfrm>
            <a:off x="2506028" y="3399222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3"/>
          </a:bodyPr>
          <a:lstStyle/>
          <a:p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Gửi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lại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luận</a:t>
            </a:r>
            <a:r>
              <a:rPr lang="en-US"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văn</a:t>
            </a:r>
            <a:endParaRPr sz="18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C34CC8C2-38EF-827E-A7FC-57CB416298A4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>
            <a:off x="4620578" y="3799272"/>
            <a:ext cx="526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9498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2278</Words>
  <Application>Microsoft Office PowerPoint</Application>
  <DocSecurity>0</DocSecurity>
  <PresentationFormat>Màn hình rộng</PresentationFormat>
  <Paragraphs>138</Paragraphs>
  <Slides>9</Slides>
  <Notes>9</Notes>
  <HiddenSlides>1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ChatGPT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Lai Tú</cp:lastModifiedBy>
  <cp:revision>32</cp:revision>
  <dcterms:created xsi:type="dcterms:W3CDTF">2026-07-21T02:18:35Z</dcterms:created>
  <dcterms:modified xsi:type="dcterms:W3CDTF">2026-10-06T00:36:54Z</dcterms:modified>
</cp:coreProperties>
</file>